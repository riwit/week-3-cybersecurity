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  <p:sldId id="273" r:id="rId19"/>
    <p:sldId id="275" r:id="rId20"/>
    <p:sldId id="274" r:id="rId21"/>
    <p:sldId id="276" r:id="rId22"/>
    <p:sldId id="277" r:id="rId23"/>
    <p:sldId id="278" r:id="rId24"/>
    <p:sldId id="280" r:id="rId25"/>
    <p:sldId id="279" r:id="rId26"/>
    <p:sldId id="281" r:id="rId27"/>
    <p:sldId id="282" r:id="rId28"/>
    <p:sldId id="283" r:id="rId29"/>
    <p:sldId id="284" r:id="rId30"/>
    <p:sldId id="288" r:id="rId31"/>
    <p:sldId id="287" r:id="rId32"/>
    <p:sldId id="286" r:id="rId33"/>
    <p:sldId id="292" r:id="rId34"/>
    <p:sldId id="291" r:id="rId35"/>
    <p:sldId id="290" r:id="rId36"/>
    <p:sldId id="289" r:id="rId37"/>
    <p:sldId id="285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99FA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B75BC-DB2C-1E59-6CC3-D13A21E97D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39BE3C-5565-D735-623B-217874E366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83FC5-EE8C-1963-A335-2F2F856E5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3A3EA-C877-4B53-9165-C6E94989D05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F966B-9A76-F09D-DB66-8260C0585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07F51-8E29-2C82-07CF-25313496E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4537-8936-49C2-AA4B-A5A4538B4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74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49F4D-26B0-08F5-2622-2CD39642A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C65BD-87D9-118B-BC86-E2204DF7B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5B079-B971-AA76-9771-234782FCE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3A3EA-C877-4B53-9165-C6E94989D05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C9726-8497-1E03-7F95-1EB19594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51B38-D6DE-CA64-4D27-75B23282A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4537-8936-49C2-AA4B-A5A4538B4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121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1E6C2-097E-65D3-E2AB-DEEEE5DC8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23DF5-6058-AC6A-50C8-FE7C253C1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FC0BD-8DE1-15A3-92B6-E48A9E0ED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3A3EA-C877-4B53-9165-C6E94989D05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1345A-1D07-381B-F34C-FB1A24A2D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EF556-004B-F81B-A35B-30F292C48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4537-8936-49C2-AA4B-A5A4538B4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924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0E0C2-D25C-5DF6-D0D6-C540AAEAA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4D11E-474E-AB6A-F4EB-6CB8A4FCC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D14BD-951A-6CC6-67E9-CB14B6FC4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EA6BD4-6859-25E4-5213-4500F8548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3A3EA-C877-4B53-9165-C6E94989D05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D76C9-CDBA-565C-92B5-17F79CE2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7ED52-88A1-F3D6-F5C7-08DD33FF6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4537-8936-49C2-AA4B-A5A4538B4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336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09BCA-D31E-6118-B916-0C9EBCD18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BE059-D6AE-256D-5B0B-AC396EC0A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C1ECB-3FBF-7CC2-4AE9-53CB87C84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D48D3-2D9B-E116-93ED-C83094EC7C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8820E3-F377-1618-79E1-EB364A4D8A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C9B860-F633-2F4C-3EAB-86A33F29C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3A3EA-C877-4B53-9165-C6E94989D05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62AB82-A756-08F2-FFF4-0CC826FD9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D97BFA-78E7-AEE8-739D-F4D276DE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4537-8936-49C2-AA4B-A5A4538B4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212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971BD-065D-8622-57F9-43641C6B7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98CD25-7284-B0F1-6ED9-1131079B6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3A3EA-C877-4B53-9165-C6E94989D05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482D4-1E83-AA4D-412B-1AC2F7C61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FB7183-6D76-0170-39ED-138C27D8C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4537-8936-49C2-AA4B-A5A4538B4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251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F6BB00-1000-B8A5-8927-03460913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3A3EA-C877-4B53-9165-C6E94989D05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64448B-03C6-D595-ECFC-E196FBF56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2758E-3C81-F862-CCCE-7F447A04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4537-8936-49C2-AA4B-A5A4538B4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643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EAB9E-EF45-52FB-2511-12FE9C5F7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A090F-F016-85FA-171D-6022356EC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A33103-0CAB-BC94-7A7C-AD5154D97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92456E-5214-0B5F-98A3-30C91A932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3A3EA-C877-4B53-9165-C6E94989D05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193EA4-9747-6A16-0EB7-329FD8064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0E7DC-6DB2-D0E0-ADCE-914697413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4537-8936-49C2-AA4B-A5A4538B4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299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AC0E8-076C-2633-4009-DF3038563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EB5F99-0E46-7FB8-8DD9-E6A918A9B3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3F4262-2F69-88A5-D731-E7D329453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31FE6-6BF0-63FC-A2F9-E72E1E8A7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3A3EA-C877-4B53-9165-C6E94989D05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DC9170-C6DC-3B44-BB26-DE0588D8F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FC1EA-C8DD-9A63-101B-346C9EB9C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4537-8936-49C2-AA4B-A5A4538B4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790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A6479-921D-A72A-839B-4C2530796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B5D68C-409C-8008-5F1D-E6688FF8A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D745A-38E1-94B2-D92D-9767D0E9A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3A3EA-C877-4B53-9165-C6E94989D05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27249-D0DC-E72D-996B-0D51E8806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F4D65-7E97-7F7E-3CFE-B010D935D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4537-8936-49C2-AA4B-A5A4538B4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450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098B3C-E057-B674-460F-20DF6AF6A9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FD2A34-4E94-8BB9-3C95-3C5E61EB8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0DD5B-CD2E-377F-71C3-C9D6998B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3A3EA-C877-4B53-9165-C6E94989D05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71E52-99BE-5780-C8B1-93047F280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ABF39-F5DA-3DAA-4CD2-A4817EEB1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4537-8936-49C2-AA4B-A5A4538B4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813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F9307-B284-976E-5DB8-DA34324B1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3C660-7EDF-37D5-370F-F388ECCB9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FA142-7C1C-89B6-9B14-531ABCFFC3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3A3EA-C877-4B53-9165-C6E94989D05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64916-733B-1D07-7A62-59BE5D8E6F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1FCBC-77F1-84B1-449C-4AF44C6319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B4537-8936-49C2-AA4B-A5A4538B4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956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dilipkumbhar.Dginternshub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hyperlink" Target="https://app.diagrams.net/#G1dEn-fJy416FW3aawNbyRosX4FtBeP2gx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750C467-A3A9-23BE-DDE3-40B84CE86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742" y="1077463"/>
            <a:ext cx="6239483" cy="3514354"/>
          </a:xfrm>
        </p:spPr>
        <p:txBody>
          <a:bodyPr>
            <a:normAutofit/>
          </a:bodyPr>
          <a:lstStyle/>
          <a:p>
            <a:pPr algn="l"/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name: -kumbhar dilip </a:t>
            </a:r>
          </a:p>
          <a:p>
            <a:pPr algn="l"/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College name: - Indus university </a:t>
            </a:r>
          </a:p>
          <a:p>
            <a:pPr algn="l"/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 3 assignment: -  advanced cybersecurity practical task</a:t>
            </a:r>
          </a:p>
          <a:p>
            <a:pPr algn="l"/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Sid: - dg/September/cyber/264 </a:t>
            </a:r>
          </a:p>
          <a:p>
            <a:pPr algn="l"/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Mail: - </a:t>
            </a:r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dilipkumbhar.Dginternshub@gmail.Com</a:t>
            </a:r>
            <a:endParaRPr lang="en-IN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2: - theory + practical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883350-54E4-75ED-5314-0D1730D1E419}"/>
              </a:ext>
            </a:extLst>
          </p:cNvPr>
          <p:cNvSpPr txBox="1"/>
          <p:nvPr/>
        </p:nvSpPr>
        <p:spPr>
          <a:xfrm>
            <a:off x="3180742" y="3559594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 tools install/use the following:- 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kali Linux / ubuntu / windows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 Nmap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 Wireshark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 VirtualBox or VMware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2–3 authorized VMs for the practical lab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Draw. io / diagrams.net for network topology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 for project documentation and files</a:t>
            </a:r>
          </a:p>
        </p:txBody>
      </p:sp>
    </p:spTree>
    <p:extLst>
      <p:ext uri="{BB962C8B-B14F-4D97-AF65-F5344CB8AC3E}">
        <p14:creationId xmlns:p14="http://schemas.microsoft.com/office/powerpoint/2010/main" val="2780892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A63E44-C126-0E97-0365-DB4C36FFB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1B3368-627A-2A1E-60D6-A80EF13387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48" y="9504"/>
            <a:ext cx="7862352" cy="40577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6C1878-53D5-A71C-01A1-5E24F798A7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69"/>
          <a:stretch>
            <a:fillRect/>
          </a:stretch>
        </p:blipFill>
        <p:spPr>
          <a:xfrm>
            <a:off x="4354805" y="4067276"/>
            <a:ext cx="4074228" cy="28002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EBF8773-5168-6FA3-EC88-AD8D957FFF92}"/>
              </a:ext>
            </a:extLst>
          </p:cNvPr>
          <p:cNvSpPr txBox="1"/>
          <p:nvPr/>
        </p:nvSpPr>
        <p:spPr>
          <a:xfrm>
            <a:off x="9405797" y="4774386"/>
            <a:ext cx="245451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1: Start the Lab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VirtualBox.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Start: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 Linux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Ubuntu VM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Optional Windows VM</a:t>
            </a:r>
          </a:p>
          <a:p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CE1DEA5F-206C-D2FB-58C7-FCA3891ABBFA}"/>
              </a:ext>
            </a:extLst>
          </p:cNvPr>
          <p:cNvSpPr/>
          <p:nvPr/>
        </p:nvSpPr>
        <p:spPr>
          <a:xfrm>
            <a:off x="8454190" y="4789977"/>
            <a:ext cx="685800" cy="219075"/>
          </a:xfrm>
          <a:prstGeom prst="lef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BB4C2F13-59D7-AC87-03E5-69EEE135A8C8}"/>
              </a:ext>
            </a:extLst>
          </p:cNvPr>
          <p:cNvSpPr/>
          <p:nvPr/>
        </p:nvSpPr>
        <p:spPr>
          <a:xfrm rot="1943453">
            <a:off x="8509832" y="4468489"/>
            <a:ext cx="685800" cy="219075"/>
          </a:xfrm>
          <a:prstGeom prst="lef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57CCF266-42CB-F921-33D3-2C2282247E05}"/>
              </a:ext>
            </a:extLst>
          </p:cNvPr>
          <p:cNvSpPr/>
          <p:nvPr/>
        </p:nvSpPr>
        <p:spPr>
          <a:xfrm rot="5400000">
            <a:off x="8920272" y="4280262"/>
            <a:ext cx="552368" cy="176591"/>
          </a:xfrm>
          <a:prstGeom prst="lef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B77AA-B14A-9866-9E14-314F461BA249}"/>
              </a:ext>
            </a:extLst>
          </p:cNvPr>
          <p:cNvSpPr txBox="1"/>
          <p:nvPr/>
        </p:nvSpPr>
        <p:spPr>
          <a:xfrm>
            <a:off x="182914" y="181660"/>
            <a:ext cx="3760436" cy="92333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 Understand how a security analyst discovers devices and exposed network services.</a:t>
            </a:r>
          </a:p>
        </p:txBody>
      </p:sp>
      <p:pic>
        <p:nvPicPr>
          <p:cNvPr id="5" name="Picture 4">
            <a:hlinkClick r:id="rId5"/>
            <a:extLst>
              <a:ext uri="{FF2B5EF4-FFF2-40B4-BE49-F238E27FC236}">
                <a16:creationId xmlns:a16="http://schemas.microsoft.com/office/drawing/2014/main" id="{48A210EF-00DF-7FA8-1E2A-276F45084C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529215"/>
            <a:ext cx="4329648" cy="227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41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29AE0D-2B1B-821B-856F-572667473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1093CD-5F9D-BA13-014E-65A23AE562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" y="209550"/>
            <a:ext cx="7192379" cy="19338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AD72E2-A77E-9E02-D4E8-99E5B88FC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" y="2533835"/>
            <a:ext cx="7192379" cy="25143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D90662-0789-516B-7CD2-BE29A7209C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" y="5438606"/>
            <a:ext cx="7192379" cy="12098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461B234-B43F-3750-88D8-4D75A09FC095}"/>
              </a:ext>
            </a:extLst>
          </p:cNvPr>
          <p:cNvSpPr txBox="1"/>
          <p:nvPr/>
        </p:nvSpPr>
        <p:spPr>
          <a:xfrm>
            <a:off x="7991475" y="889939"/>
            <a:ext cx="3905250" cy="34163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2: Check Network Configuration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identify the network details.</a:t>
            </a:r>
          </a:p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Kali Linux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Terminal.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Run:</a:t>
            </a:r>
          </a:p>
          <a:p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</a:t>
            </a:r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displays: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 address  :- 192.168.188.131/24 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Subnet :- 255.255.255.0 (/24)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 interface :- 192.168.188.0/24</a:t>
            </a:r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3D63CC3A-130F-B3EA-7EF5-EC2700605CAB}"/>
              </a:ext>
            </a:extLst>
          </p:cNvPr>
          <p:cNvSpPr/>
          <p:nvPr/>
        </p:nvSpPr>
        <p:spPr>
          <a:xfrm>
            <a:off x="7315740" y="1435786"/>
            <a:ext cx="552368" cy="176591"/>
          </a:xfrm>
          <a:prstGeom prst="lef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D9F47711-0A4E-B439-ED4D-BDEECF816C54}"/>
              </a:ext>
            </a:extLst>
          </p:cNvPr>
          <p:cNvSpPr/>
          <p:nvPr/>
        </p:nvSpPr>
        <p:spPr>
          <a:xfrm>
            <a:off x="7315740" y="2797861"/>
            <a:ext cx="552368" cy="176591"/>
          </a:xfrm>
          <a:prstGeom prst="lef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56722F-761A-4905-E14D-439DD43890BD}"/>
              </a:ext>
            </a:extLst>
          </p:cNvPr>
          <p:cNvSpPr txBox="1"/>
          <p:nvPr/>
        </p:nvSpPr>
        <p:spPr>
          <a:xfrm>
            <a:off x="7991475" y="5426430"/>
            <a:ext cx="3905250" cy="92333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4: Verify Nmap Installation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Kali:</a:t>
            </a:r>
          </a:p>
          <a:p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nmap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--version</a:t>
            </a:r>
          </a:p>
        </p:txBody>
      </p:sp>
      <p:sp>
        <p:nvSpPr>
          <p:cNvPr id="22" name="Arrow: Left 21">
            <a:extLst>
              <a:ext uri="{FF2B5EF4-FFF2-40B4-BE49-F238E27FC236}">
                <a16:creationId xmlns:a16="http://schemas.microsoft.com/office/drawing/2014/main" id="{D4864C2B-0EF2-99AD-838B-C084D4D66D45}"/>
              </a:ext>
            </a:extLst>
          </p:cNvPr>
          <p:cNvSpPr/>
          <p:nvPr/>
        </p:nvSpPr>
        <p:spPr>
          <a:xfrm>
            <a:off x="7315740" y="5711504"/>
            <a:ext cx="552368" cy="176591"/>
          </a:xfrm>
          <a:prstGeom prst="lef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161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030749-AC78-DEF6-1734-ABFAAA7D5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E34C6F-1D92-1692-BBE8-975E135502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4"/>
          <a:stretch>
            <a:fillRect/>
          </a:stretch>
        </p:blipFill>
        <p:spPr>
          <a:xfrm>
            <a:off x="0" y="4048125"/>
            <a:ext cx="5005405" cy="2809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03ABCA-06CD-51FC-B314-574283B995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575" y="0"/>
            <a:ext cx="7210425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175624-9FB6-3FC0-88C0-CF142E2A6C9A}"/>
              </a:ext>
            </a:extLst>
          </p:cNvPr>
          <p:cNvSpPr txBox="1"/>
          <p:nvPr/>
        </p:nvSpPr>
        <p:spPr>
          <a:xfrm>
            <a:off x="666750" y="254348"/>
            <a:ext cx="3152776" cy="375487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5: Perform Host Discovery</a:t>
            </a:r>
          </a:p>
          <a:p>
            <a:pPr>
              <a:buNone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Host discovery identifies active devices.</a:t>
            </a:r>
          </a:p>
          <a:p>
            <a:pPr>
              <a:buNone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Command:</a:t>
            </a:r>
          </a:p>
          <a:p>
            <a:pPr rtl="0">
              <a:buNone/>
            </a:pP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nmap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192.168.188.131/24</a:t>
            </a:r>
          </a:p>
          <a:p>
            <a:pPr>
              <a:buNone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Explanation: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Finds live hosts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not perform port scanning</a:t>
            </a:r>
          </a:p>
          <a:p>
            <a:pPr>
              <a:buNone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Command:</a:t>
            </a:r>
          </a:p>
          <a:p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nmap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-A 192.168.188.131/24</a:t>
            </a:r>
          </a:p>
          <a:p>
            <a:pPr>
              <a:buNone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Explanation: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detection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Version detection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 scanning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Traceroute</a:t>
            </a:r>
          </a:p>
        </p:txBody>
      </p:sp>
    </p:spTree>
    <p:extLst>
      <p:ext uri="{BB962C8B-B14F-4D97-AF65-F5344CB8AC3E}">
        <p14:creationId xmlns:p14="http://schemas.microsoft.com/office/powerpoint/2010/main" val="580836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0AB4B6-A65B-DFBD-D7C0-9E113EE6F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6E4B94-394F-0218-C4DC-D303B72B1F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4046" y="0"/>
            <a:ext cx="4867954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3DA049-07F2-B09B-BA31-D82594FB0B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9151"/>
            <a:ext cx="7324046" cy="46488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1CCE5D-18BB-EB0C-D134-03E0DA9FB0D7}"/>
              </a:ext>
            </a:extLst>
          </p:cNvPr>
          <p:cNvSpPr txBox="1"/>
          <p:nvPr/>
        </p:nvSpPr>
        <p:spPr>
          <a:xfrm>
            <a:off x="819150" y="227413"/>
            <a:ext cx="6173485" cy="1754326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6: </a:t>
            </a:r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Nmap Network Scanning and Port Enumeration</a:t>
            </a:r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192.168.188.1 — TCP 7680 open (</a:t>
            </a:r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pando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-pub)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192.168.188.2 — TCP 53 open (domain/DNS)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192.168.188.131 — no open TCP ports detected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192.168.188.254 — no open TCP ports detected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192.168.188.128 — TCP 80 open (HTTP)</a:t>
            </a:r>
          </a:p>
        </p:txBody>
      </p:sp>
    </p:spTree>
    <p:extLst>
      <p:ext uri="{BB962C8B-B14F-4D97-AF65-F5344CB8AC3E}">
        <p14:creationId xmlns:p14="http://schemas.microsoft.com/office/powerpoint/2010/main" val="979576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A2E328-E0AD-066F-45C0-C4FA5F7D1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0EF465-57C0-23DB-AF49-39AED3FF7DDA}"/>
              </a:ext>
            </a:extLst>
          </p:cNvPr>
          <p:cNvSpPr txBox="1"/>
          <p:nvPr/>
        </p:nvSpPr>
        <p:spPr>
          <a:xfrm>
            <a:off x="200026" y="2000250"/>
            <a:ext cx="5534024" cy="470898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service is running?</a:t>
            </a:r>
          </a:p>
          <a:p>
            <a:pPr lvl="0"/>
            <a:r>
              <a:rPr lang="en-IN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Ans. The scan shows DNS service (dnsmasq 2.45) running on TCP port 53 on 192.168.188.2.</a:t>
            </a:r>
          </a:p>
          <a:p>
            <a:pPr marL="342900" lvl="0" indent="-342900">
              <a:buFont typeface="+mj-lt"/>
              <a:buAutoNum type="arabicPeriod" startAt="2"/>
            </a:pPr>
            <a:r>
              <a:rPr lang="en-IN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is the service required?</a:t>
            </a:r>
          </a:p>
          <a:p>
            <a:pPr lvl="0"/>
            <a:r>
              <a:rPr lang="en-IN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Ans. DNS is required to translate domain names into IP addresses, allowing devices to access websites and other network services using names instead of IP addresses.</a:t>
            </a:r>
          </a:p>
          <a:p>
            <a:pPr marL="342900" lvl="0" indent="-342900">
              <a:buFont typeface="+mj-lt"/>
              <a:buAutoNum type="arabicPeriod" startAt="3"/>
            </a:pPr>
            <a:r>
              <a:rPr lang="en-IN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it necessary to expose it?</a:t>
            </a:r>
          </a:p>
          <a:p>
            <a:pPr lvl="0"/>
            <a:r>
              <a:rPr lang="en-IN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Ans. It should only be exposed to trusted clients that need DNS access. It does not need to be publicly accessible unless there is a specific requirement.</a:t>
            </a:r>
          </a:p>
          <a:p>
            <a:pPr marL="342900" lvl="0" indent="-342900">
              <a:buFont typeface="+mj-lt"/>
              <a:buAutoNum type="arabicPeriod" startAt="4"/>
            </a:pPr>
            <a:r>
              <a:rPr lang="en-IN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could happen if the service is vulnerable?</a:t>
            </a:r>
          </a:p>
          <a:p>
            <a:pPr lvl="0"/>
            <a:r>
              <a:rPr lang="en-IN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Ans. An attacker could potentially intercept or manipulate DNS requests, obtain network information, or compromise the system, depending on the vulnerability.</a:t>
            </a:r>
          </a:p>
          <a:p>
            <a:pPr marL="342900" lvl="0" indent="-342900">
              <a:buFont typeface="+mj-lt"/>
              <a:buAutoNum type="arabicPeriod" startAt="5"/>
            </a:pPr>
            <a:r>
              <a:rPr lang="en-IN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could it be secured?</a:t>
            </a:r>
          </a:p>
          <a:p>
            <a:pPr lvl="0"/>
            <a:r>
              <a:rPr lang="en-IN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Ans. Keep dnsmasq updated, restrict port 53 using a firewall, allow DNS requests only from trusted networks, disable unnecessary features, and monitor DNS activity regularly.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0E33CE-614C-3843-3C33-848E4FEE03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4257" y="2000250"/>
            <a:ext cx="5276267" cy="47705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B4111A-7DA7-E9B8-D64A-40029B76449F}"/>
              </a:ext>
            </a:extLst>
          </p:cNvPr>
          <p:cNvSpPr txBox="1"/>
          <p:nvPr/>
        </p:nvSpPr>
        <p:spPr>
          <a:xfrm>
            <a:off x="3906123" y="329356"/>
            <a:ext cx="5276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8 – Advanced Nmap Security Assessment</a:t>
            </a:r>
            <a:endParaRPr lang="en-IN" sz="1600" b="1" u="sng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252FDE-BFF0-E28C-7F48-6992B652BE29}"/>
              </a:ext>
            </a:extLst>
          </p:cNvPr>
          <p:cNvSpPr txBox="1"/>
          <p:nvPr/>
        </p:nvSpPr>
        <p:spPr>
          <a:xfrm>
            <a:off x="5018560" y="1484054"/>
            <a:ext cx="27302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 </a:t>
            </a:r>
            <a:r>
              <a:rPr lang="en-I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nmap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lang="en-I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&lt;target-IP&gt;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CE935B-407F-C434-19B0-B2B4203B538E}"/>
              </a:ext>
            </a:extLst>
          </p:cNvPr>
          <p:cNvSpPr txBox="1"/>
          <p:nvPr/>
        </p:nvSpPr>
        <p:spPr>
          <a:xfrm>
            <a:off x="2494040" y="922094"/>
            <a:ext cx="77765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 Perform a more detailed assessment of your authorized lab machines.</a:t>
            </a:r>
          </a:p>
        </p:txBody>
      </p:sp>
    </p:spTree>
    <p:extLst>
      <p:ext uri="{BB962C8B-B14F-4D97-AF65-F5344CB8AC3E}">
        <p14:creationId xmlns:p14="http://schemas.microsoft.com/office/powerpoint/2010/main" val="2577691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EC3E08-568D-4ADB-8B56-CE291C8E4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980F4D-39FC-859F-DC33-4C8016BA99D1}"/>
              </a:ext>
            </a:extLst>
          </p:cNvPr>
          <p:cNvSpPr txBox="1"/>
          <p:nvPr/>
        </p:nvSpPr>
        <p:spPr>
          <a:xfrm>
            <a:off x="285751" y="1025396"/>
            <a:ext cx="6134100" cy="477053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service is running?</a:t>
            </a:r>
          </a:p>
          <a:p>
            <a:pPr lvl="0"/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Ans. The scan shows DNS service (dnsmasq 2.45) running on TCP port 53 on 192.168.188.2.</a:t>
            </a:r>
          </a:p>
          <a:p>
            <a:pPr marL="342900" lvl="0" indent="-342900">
              <a:buFont typeface="+mj-lt"/>
              <a:buAutoNum type="arabicPeriod" startAt="2"/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is the service required?</a:t>
            </a:r>
          </a:p>
          <a:p>
            <a:pPr lvl="0"/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Ans. DNS is required to translate domain names into IP addresses, allowing devices to access websites and other network services using names instead of IP addresses.</a:t>
            </a:r>
          </a:p>
          <a:p>
            <a:pPr marL="342900" lvl="0" indent="-342900">
              <a:buFont typeface="+mj-lt"/>
              <a:buAutoNum type="arabicPeriod" startAt="3"/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it necessary to expose it?</a:t>
            </a:r>
          </a:p>
          <a:p>
            <a:pPr lvl="0"/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Ans. It should only be exposed to trusted clients that need DNS access. It does not need to be publicly accessible unless there is a specific requirement.</a:t>
            </a:r>
          </a:p>
          <a:p>
            <a:pPr marL="342900" lvl="0" indent="-342900">
              <a:buFont typeface="+mj-lt"/>
              <a:buAutoNum type="arabicPeriod" startAt="4"/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could happen if the service is vulnerable?</a:t>
            </a:r>
          </a:p>
          <a:p>
            <a:pPr lvl="0"/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Ans. An attacker could potentially intercept or manipulate DNS requests, obtain network information, or compromise the system, depending on the vulnerability.</a:t>
            </a:r>
          </a:p>
          <a:p>
            <a:pPr marL="342900" lvl="0" indent="-342900">
              <a:buFont typeface="+mj-lt"/>
              <a:buAutoNum type="arabicPeriod" startAt="5"/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could it be secured?</a:t>
            </a:r>
          </a:p>
          <a:p>
            <a:pPr lvl="0"/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Ans. Keep dnsmasq updated, restrict port 53 using a firewall, allow DNS requests only from trusted networks, disable unnecessary features, and monitor DNS activity regularly.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F9F84E-A60A-5B9B-804F-313685B1C7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29982" y="1025396"/>
            <a:ext cx="5276267" cy="51468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658314-4303-8611-1186-634E68A2DF85}"/>
              </a:ext>
            </a:extLst>
          </p:cNvPr>
          <p:cNvSpPr txBox="1"/>
          <p:nvPr/>
        </p:nvSpPr>
        <p:spPr>
          <a:xfrm>
            <a:off x="4953000" y="316469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 </a:t>
            </a:r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nmap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-O &lt;target-</a:t>
            </a:r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833816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83F2A2-FDB1-8C65-FA34-8AD87E2B2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2D063A-49C2-E425-CEEE-B52762E50158}"/>
              </a:ext>
            </a:extLst>
          </p:cNvPr>
          <p:cNvSpPr txBox="1"/>
          <p:nvPr/>
        </p:nvSpPr>
        <p:spPr>
          <a:xfrm>
            <a:off x="285751" y="1025396"/>
            <a:ext cx="6134100" cy="477053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service is running?</a:t>
            </a:r>
          </a:p>
          <a:p>
            <a:pPr lvl="0"/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Ans. The scan shows DNS service (dnsmasq 2.45) running on TCP port 53 on 192.168.188.2.</a:t>
            </a:r>
          </a:p>
          <a:p>
            <a:pPr marL="342900" lvl="0" indent="-342900">
              <a:buFont typeface="+mj-lt"/>
              <a:buAutoNum type="arabicPeriod" startAt="2"/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is the service required?</a:t>
            </a:r>
          </a:p>
          <a:p>
            <a:pPr lvl="0"/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Ans. DNS is required to translate domain names into IP addresses, allowing devices to access websites and other network services using names instead of IP addresses.</a:t>
            </a:r>
          </a:p>
          <a:p>
            <a:pPr marL="342900" lvl="0" indent="-342900">
              <a:buFont typeface="+mj-lt"/>
              <a:buAutoNum type="arabicPeriod" startAt="3"/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it necessary to expose it?</a:t>
            </a:r>
          </a:p>
          <a:p>
            <a:pPr lvl="0"/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Ans. It should only be exposed to trusted clients that need DNS access. It does not need to be publicly accessible unless there is a specific requirement.</a:t>
            </a:r>
          </a:p>
          <a:p>
            <a:pPr marL="342900" lvl="0" indent="-342900">
              <a:buFont typeface="+mj-lt"/>
              <a:buAutoNum type="arabicPeriod" startAt="4"/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could happen if the service is vulnerable?</a:t>
            </a:r>
          </a:p>
          <a:p>
            <a:pPr lvl="0"/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Ans. An attacker could potentially intercept or manipulate DNS requests, obtain network information, or compromise the system, depending on the vulnerability.</a:t>
            </a:r>
          </a:p>
          <a:p>
            <a:pPr marL="342900" lvl="0" indent="-342900">
              <a:buFont typeface="+mj-lt"/>
              <a:buAutoNum type="arabicPeriod" startAt="5"/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could it be secured?</a:t>
            </a:r>
          </a:p>
          <a:p>
            <a:pPr lvl="0"/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Ans. Keep dnsmasq updated, restrict port 53 using a firewall, allow DNS requests only from trusted networks, disable unnecessary features, and monitor DNS activity regularly.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5CD239-871C-45DC-5D19-7B3251B516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83340" y="1025396"/>
            <a:ext cx="4769550" cy="51468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573C96-3843-0450-696C-A65E54C92833}"/>
              </a:ext>
            </a:extLst>
          </p:cNvPr>
          <p:cNvSpPr txBox="1"/>
          <p:nvPr/>
        </p:nvSpPr>
        <p:spPr>
          <a:xfrm>
            <a:off x="5457825" y="47625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 </a:t>
            </a:r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nmap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&lt;target-</a:t>
            </a:r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877231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BEF770-902D-DF09-35A6-4CC5858E6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52573A-EA40-BF55-BDAD-FACE70690D2D}"/>
              </a:ext>
            </a:extLst>
          </p:cNvPr>
          <p:cNvSpPr txBox="1"/>
          <p:nvPr/>
        </p:nvSpPr>
        <p:spPr>
          <a:xfrm>
            <a:off x="266701" y="1035266"/>
            <a:ext cx="6134100" cy="483209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What service is running?</a:t>
            </a:r>
          </a:p>
          <a:p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Ans. The service running is DNS (Domain Name System) on UDP port 53. DNS converts website names like google.com into IP addresses.</a:t>
            </a:r>
          </a:p>
          <a:p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Why is the service required?</a:t>
            </a:r>
          </a:p>
          <a:p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Ans. DNS is required to help devices find servers using domain names instead of IP addresses.</a:t>
            </a:r>
            <a:b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makes network communication easier and more user-friendly.</a:t>
            </a:r>
          </a:p>
          <a:p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Is it necessary to expose it?</a:t>
            </a:r>
          </a:p>
          <a:p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Ans. DNS only needs to be exposed if other devices or users need to use this DNS server.</a:t>
            </a:r>
            <a:b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it is only for internal use, access should be limited to the internal network.</a:t>
            </a:r>
          </a:p>
          <a:p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What could happen if the service is vulnerable?</a:t>
            </a:r>
          </a:p>
          <a:p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Ans. An attacker could abuse a vulnerable DNS service to redirect users or gather network information.</a:t>
            </a:r>
            <a:b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Poorly secured DNS servers can also be misused for attacks such as DNS amplification.</a:t>
            </a:r>
          </a:p>
          <a:p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How could it be secured?</a:t>
            </a:r>
          </a:p>
          <a:p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Ans. Keep the DNS software updated and allow DNS requests only from trusted networks.</a:t>
            </a:r>
            <a:b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Disable unnecessary features, use firewall rules, and monitor DNS traffic for unusual activity.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99A230-55FE-70D5-0A66-16339C2343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00850" y="1045875"/>
            <a:ext cx="4800600" cy="55091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F89C32-5BED-AB1A-A35A-DA664FB89F1D}"/>
              </a:ext>
            </a:extLst>
          </p:cNvPr>
          <p:cNvSpPr txBox="1"/>
          <p:nvPr/>
        </p:nvSpPr>
        <p:spPr>
          <a:xfrm>
            <a:off x="4075318" y="447675"/>
            <a:ext cx="4416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nmap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--top-ports 20 &lt;target-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302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341E40-E513-8B7D-1535-B81769026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37231D-5FED-E271-48EB-38926AD3E534}"/>
              </a:ext>
            </a:extLst>
          </p:cNvPr>
          <p:cNvSpPr txBox="1"/>
          <p:nvPr/>
        </p:nvSpPr>
        <p:spPr>
          <a:xfrm>
            <a:off x="533401" y="968590"/>
            <a:ext cx="6134100" cy="483209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What service is running?</a:t>
            </a:r>
          </a:p>
          <a:p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Ans. The service running is HTTP (web server) on TCP port 80.</a:t>
            </a:r>
            <a:b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provides a website or web application that users can access through a browser.</a:t>
            </a:r>
          </a:p>
          <a:p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Why is the service required?</a:t>
            </a:r>
          </a:p>
          <a:p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Ans. HTTP is required to make the website or web application available to users. It allows browsers and the web server to communicate and exchange web pages.</a:t>
            </a:r>
          </a:p>
          <a:p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Is it necessary to expose it?</a:t>
            </a:r>
          </a:p>
          <a:p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Ans. It should only be exposed if users need to access the web application. If it is an internal application, access should be limited to trusted users or networks.</a:t>
            </a:r>
          </a:p>
          <a:p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What could happen if the service is vulnerable?</a:t>
            </a:r>
          </a:p>
          <a:p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Ans. An attacker could exploit weaknesses in the web application to access or modify information.</a:t>
            </a:r>
            <a:b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scan also found a potentially interesting /server-status/ folder, which should be checked and restricted if unnecessary.</a:t>
            </a:r>
          </a:p>
          <a:p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How could it be secured?</a:t>
            </a:r>
          </a:p>
          <a:p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Ans. Keep the web server and application updated and restrict access to sensitive pages such as /server-status/.</a:t>
            </a:r>
            <a:b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HTTPS, strong authentication, proper access controls, and regularly scan the application for vulnerabilities.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345754-66D8-AD94-E115-5935D89562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81057" y="968592"/>
            <a:ext cx="4564035" cy="55091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2B4176-9CED-50C8-2B54-E305008CBAC8}"/>
              </a:ext>
            </a:extLst>
          </p:cNvPr>
          <p:cNvSpPr txBox="1"/>
          <p:nvPr/>
        </p:nvSpPr>
        <p:spPr>
          <a:xfrm>
            <a:off x="4257675" y="285750"/>
            <a:ext cx="3676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 </a:t>
            </a:r>
            <a:r>
              <a:rPr lang="en-IN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nmap</a:t>
            </a: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--script vuln &lt;</a:t>
            </a:r>
            <a:r>
              <a:rPr lang="en-IN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target_IP</a:t>
            </a: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064464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6085C9-3316-5328-F61B-17B19FA9B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217C4E-DFB0-C90F-25A5-0A9194EE6D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869300"/>
              </p:ext>
            </p:extLst>
          </p:nvPr>
        </p:nvGraphicFramePr>
        <p:xfrm>
          <a:off x="0" y="785704"/>
          <a:ext cx="12192000" cy="6072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322">
                  <a:extLst>
                    <a:ext uri="{9D8B030D-6E8A-4147-A177-3AD203B41FA5}">
                      <a16:colId xmlns:a16="http://schemas.microsoft.com/office/drawing/2014/main" val="3372803334"/>
                    </a:ext>
                  </a:extLst>
                </a:gridCol>
                <a:gridCol w="1370340">
                  <a:extLst>
                    <a:ext uri="{9D8B030D-6E8A-4147-A177-3AD203B41FA5}">
                      <a16:colId xmlns:a16="http://schemas.microsoft.com/office/drawing/2014/main" val="2006262484"/>
                    </a:ext>
                  </a:extLst>
                </a:gridCol>
                <a:gridCol w="1299809">
                  <a:extLst>
                    <a:ext uri="{9D8B030D-6E8A-4147-A177-3AD203B41FA5}">
                      <a16:colId xmlns:a16="http://schemas.microsoft.com/office/drawing/2014/main" val="2062640190"/>
                    </a:ext>
                  </a:extLst>
                </a:gridCol>
                <a:gridCol w="896767">
                  <a:extLst>
                    <a:ext uri="{9D8B030D-6E8A-4147-A177-3AD203B41FA5}">
                      <a16:colId xmlns:a16="http://schemas.microsoft.com/office/drawing/2014/main" val="184156302"/>
                    </a:ext>
                  </a:extLst>
                </a:gridCol>
                <a:gridCol w="1199048">
                  <a:extLst>
                    <a:ext uri="{9D8B030D-6E8A-4147-A177-3AD203B41FA5}">
                      <a16:colId xmlns:a16="http://schemas.microsoft.com/office/drawing/2014/main" val="1029039372"/>
                    </a:ext>
                  </a:extLst>
                </a:gridCol>
                <a:gridCol w="1380417">
                  <a:extLst>
                    <a:ext uri="{9D8B030D-6E8A-4147-A177-3AD203B41FA5}">
                      <a16:colId xmlns:a16="http://schemas.microsoft.com/office/drawing/2014/main" val="3316103108"/>
                    </a:ext>
                  </a:extLst>
                </a:gridCol>
                <a:gridCol w="1007604">
                  <a:extLst>
                    <a:ext uri="{9D8B030D-6E8A-4147-A177-3AD203B41FA5}">
                      <a16:colId xmlns:a16="http://schemas.microsoft.com/office/drawing/2014/main" val="1549818495"/>
                    </a:ext>
                  </a:extLst>
                </a:gridCol>
                <a:gridCol w="4332693">
                  <a:extLst>
                    <a:ext uri="{9D8B030D-6E8A-4147-A177-3AD203B41FA5}">
                      <a16:colId xmlns:a16="http://schemas.microsoft.com/office/drawing/2014/main" val="686123401"/>
                    </a:ext>
                  </a:extLst>
                </a:gridCol>
              </a:tblGrid>
              <a:tr h="371346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 Address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Protocol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Observation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330866"/>
                  </a:ext>
                </a:extLst>
              </a:tr>
              <a:tr h="550917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open 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detected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 1000 TCP ports were filtered; likely VMware gateway or firewall-protected host.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470963"/>
                  </a:ext>
                </a:extLst>
              </a:tr>
              <a:tr h="550917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UDP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detected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UDP scan showed open|filtered, indicating the service may be available but was not confirmed.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3580895"/>
                  </a:ext>
                </a:extLst>
              </a:tr>
              <a:tr h="550917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dnsmasq 2.45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DNS service detected and used for network name resolution.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312621"/>
                  </a:ext>
                </a:extLst>
              </a:tr>
              <a:tr h="550917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UDP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detected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UDP DNS service responded as open|filtered during the top-20 UDP scan.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515670"/>
                  </a:ext>
                </a:extLst>
              </a:tr>
              <a:tr h="550917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UDP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DHCP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detected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DHCP-related traffic appears available for network configuration.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905133"/>
                  </a:ext>
                </a:extLst>
              </a:tr>
              <a:tr h="371346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UDP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DHCP Client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detected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Client-side DHCP service detected as open|filtered.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9120085"/>
                  </a:ext>
                </a:extLst>
              </a:tr>
              <a:tr h="550917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UDP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TFTP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detected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TFTP service appears open|filtered and should be restricted if unused.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6906155"/>
                  </a:ext>
                </a:extLst>
              </a:tr>
              <a:tr h="371346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UDP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detected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 synchronization service detected as open|filtered.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7054268"/>
                  </a:ext>
                </a:extLst>
              </a:tr>
              <a:tr h="550917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open 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detected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 scanned TCP ports were closed; no exposed services were found.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598491"/>
                  </a:ext>
                </a:extLst>
              </a:tr>
              <a:tr h="550917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192.168.188.254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open 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detected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 TCP ports were filtered, indicating restricted access.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828447"/>
                  </a:ext>
                </a:extLst>
              </a:tr>
              <a:tr h="550917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Apache httpd 2.4.68 (Debian)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Web server is accessible and running on Debian Linux.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802548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1D9BF68-FE52-2E99-DDF8-3E1EDB4F954C}"/>
              </a:ext>
            </a:extLst>
          </p:cNvPr>
          <p:cNvSpPr txBox="1"/>
          <p:nvPr/>
        </p:nvSpPr>
        <p:spPr>
          <a:xfrm>
            <a:off x="4215966" y="257175"/>
            <a:ext cx="446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Nmap Security Assessment Table</a:t>
            </a:r>
          </a:p>
        </p:txBody>
      </p:sp>
    </p:spTree>
    <p:extLst>
      <p:ext uri="{BB962C8B-B14F-4D97-AF65-F5344CB8AC3E}">
        <p14:creationId xmlns:p14="http://schemas.microsoft.com/office/powerpoint/2010/main" val="1252111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904795-C0E6-8530-0917-014EBBF8F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F411CD-768B-13A0-23E4-100D4EEB313B}"/>
              </a:ext>
            </a:extLst>
          </p:cNvPr>
          <p:cNvSpPr txBox="1"/>
          <p:nvPr/>
        </p:nvSpPr>
        <p:spPr>
          <a:xfrm>
            <a:off x="3959710" y="304800"/>
            <a:ext cx="42371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9 – Wireshark Network Traffic Capture</a:t>
            </a:r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7AC4FC-4161-5F74-6CC7-0EF35E8AA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77" y="2933700"/>
            <a:ext cx="4325935" cy="3381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B68450-B654-22AC-5F91-2E2E94A5C0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32290" y="930354"/>
            <a:ext cx="3810532" cy="27223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545E0F-D7D0-B0C8-E000-41EF5C38F2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32290" y="3762374"/>
            <a:ext cx="3810532" cy="30013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387D6D9-233D-4342-3B92-D010E53D60DB}"/>
              </a:ext>
            </a:extLst>
          </p:cNvPr>
          <p:cNvSpPr txBox="1"/>
          <p:nvPr/>
        </p:nvSpPr>
        <p:spPr>
          <a:xfrm>
            <a:off x="4582051" y="930354"/>
            <a:ext cx="354330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1: Identify Your Network Interface</a:t>
            </a:r>
          </a:p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Wireshark.</a:t>
            </a:r>
          </a:p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will see a list of interfaces.</a:t>
            </a:r>
          </a:p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 lvl="0"/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eth0</a:t>
            </a:r>
          </a:p>
          <a:p>
            <a:pPr lvl="0"/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ens33</a:t>
            </a:r>
          </a:p>
          <a:p>
            <a:pPr lvl="0"/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wlan0</a:t>
            </a:r>
          </a:p>
          <a:p>
            <a:pPr lvl="0"/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Ethernet</a:t>
            </a:r>
          </a:p>
          <a:p>
            <a:pPr lvl="0"/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2: Generate Normal Network Traffic</a:t>
            </a:r>
          </a:p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 different types of traffic so multiple protocols appear.</a:t>
            </a:r>
          </a:p>
          <a:p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 Access a Website</a:t>
            </a:r>
          </a:p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Firefox.</a:t>
            </a:r>
          </a:p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Visit:</a:t>
            </a:r>
          </a:p>
          <a:p>
            <a:pPr lvl="0"/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example.com</a:t>
            </a:r>
          </a:p>
          <a:p>
            <a:pPr lvl="0"/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wikipedia.org</a:t>
            </a:r>
          </a:p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generates:</a:t>
            </a:r>
          </a:p>
          <a:p>
            <a:pPr lvl="0"/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</a:t>
            </a:r>
          </a:p>
          <a:p>
            <a:pPr lvl="0"/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TCP</a:t>
            </a:r>
          </a:p>
          <a:p>
            <a:pPr lvl="0"/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 or HTTPS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88D62E-8CC4-14F5-2BB0-A45BCB28AEDE}"/>
              </a:ext>
            </a:extLst>
          </p:cNvPr>
          <p:cNvSpPr txBox="1"/>
          <p:nvPr/>
        </p:nvSpPr>
        <p:spPr>
          <a:xfrm>
            <a:off x="533400" y="1048598"/>
            <a:ext cx="3609975" cy="83099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 Learn how a cybersecurity analyst captures and </a:t>
            </a:r>
            <a:r>
              <a:rPr lang="en-I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analyzes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network packets.</a:t>
            </a:r>
          </a:p>
        </p:txBody>
      </p:sp>
    </p:spTree>
    <p:extLst>
      <p:ext uri="{BB962C8B-B14F-4D97-AF65-F5344CB8AC3E}">
        <p14:creationId xmlns:p14="http://schemas.microsoft.com/office/powerpoint/2010/main" val="2107935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23162F-39E7-DB09-945E-C91751803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176365-6DBE-7C76-F866-B4E063C619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949" y="209262"/>
            <a:ext cx="4839075" cy="32197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03A8E0-194E-E961-1FDF-2DCB3893A3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76" y="209262"/>
            <a:ext cx="3810532" cy="55816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05C8A2-8EAD-DAB9-269A-3415112E9B83}"/>
              </a:ext>
            </a:extLst>
          </p:cNvPr>
          <p:cNvSpPr txBox="1"/>
          <p:nvPr/>
        </p:nvSpPr>
        <p:spPr>
          <a:xfrm>
            <a:off x="4252991" y="209262"/>
            <a:ext cx="2657475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3 : Generate DNS Requests</a:t>
            </a:r>
          </a:p>
          <a:p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Terminal.</a:t>
            </a:r>
          </a:p>
          <a:p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nslookup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example.com</a:t>
            </a:r>
          </a:p>
          <a:p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 example.com</a:t>
            </a:r>
          </a:p>
          <a:p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creates DNS query packets.</a:t>
            </a:r>
          </a:p>
          <a:p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 ICMP Traffic</a:t>
            </a:r>
          </a:p>
          <a:p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Ping another authorized lab machine.</a:t>
            </a:r>
          </a:p>
          <a:p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ping 192.168.188.128</a:t>
            </a:r>
          </a:p>
          <a:p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 to a Local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Apache is running on your Ubuntu VM: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Open:</a:t>
            </a:r>
          </a:p>
          <a:p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http://localhost:8080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E09540-B799-2A61-871D-7F410B3844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949" y="3479426"/>
            <a:ext cx="4839075" cy="302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327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FCC68F-7A35-E5C3-6F58-FFDAEEA6DA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725" y="942975"/>
            <a:ext cx="6981147" cy="46291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E9855C2-594C-C65E-B515-2505011E4B9A}"/>
              </a:ext>
            </a:extLst>
          </p:cNvPr>
          <p:cNvSpPr txBox="1"/>
          <p:nvPr/>
        </p:nvSpPr>
        <p:spPr>
          <a:xfrm>
            <a:off x="172128" y="942975"/>
            <a:ext cx="4666573" cy="535531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4 : Capture Traffic for 5–10 Minutes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 Wireshark to capture packets for approximately: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minutes (minimum)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minutes (recommended)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finishing: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the red Stop button.</a:t>
            </a:r>
          </a:p>
          <a:p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5: Save the Capture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→ Save As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filename: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task9_capture.pcapng</a:t>
            </a:r>
          </a:p>
          <a:p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6 : </a:t>
            </a:r>
            <a:r>
              <a:rPr lang="en-IN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Important Protocols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the Display Filter bar.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 Filter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</a:t>
            </a:r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509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F06EFF-C686-36AE-E793-E32880BB8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B8321E-0243-A989-6685-53B00B8F20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325" y="0"/>
            <a:ext cx="6162675" cy="45053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10302A-3FD9-712A-6F33-3AF0809B2772}"/>
              </a:ext>
            </a:extLst>
          </p:cNvPr>
          <p:cNvSpPr txBox="1"/>
          <p:nvPr/>
        </p:nvSpPr>
        <p:spPr>
          <a:xfrm>
            <a:off x="4152900" y="71079"/>
            <a:ext cx="1800225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7: TCP Filter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Type:</a:t>
            </a:r>
          </a:p>
          <a:p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tcp</a:t>
            </a:r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087795-BD19-BA35-7C47-9329A278D3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43200"/>
            <a:ext cx="6029325" cy="4043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455F5B-A2E6-6392-E830-2375B1764E77}"/>
              </a:ext>
            </a:extLst>
          </p:cNvPr>
          <p:cNvSpPr txBox="1"/>
          <p:nvPr/>
        </p:nvSpPr>
        <p:spPr>
          <a:xfrm>
            <a:off x="6162677" y="5286375"/>
            <a:ext cx="2129750" cy="92333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8: UDP Filter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Type:</a:t>
            </a:r>
          </a:p>
          <a:p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udp</a:t>
            </a:r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374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9316A-9DBD-CC86-E561-9C62BE533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4DCE6F-8941-73B2-C639-A2997E9DF587}"/>
              </a:ext>
            </a:extLst>
          </p:cNvPr>
          <p:cNvSpPr txBox="1"/>
          <p:nvPr/>
        </p:nvSpPr>
        <p:spPr>
          <a:xfrm>
            <a:off x="9201150" y="257175"/>
            <a:ext cx="1385957" cy="92333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ICMP Filter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Type:</a:t>
            </a:r>
          </a:p>
          <a:p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icmp</a:t>
            </a:r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57975D-D2B0-DF82-05F8-A27433F82A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002381" cy="30007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CC4CA2-BBD3-79CB-022F-C4FF5E0412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43"/>
          <a:stretch>
            <a:fillRect/>
          </a:stretch>
        </p:blipFill>
        <p:spPr>
          <a:xfrm>
            <a:off x="3208671" y="3142961"/>
            <a:ext cx="8983329" cy="37150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484B1C-0356-DEA0-01A5-5A6FD4400D0A}"/>
              </a:ext>
            </a:extLst>
          </p:cNvPr>
          <p:cNvSpPr txBox="1"/>
          <p:nvPr/>
        </p:nvSpPr>
        <p:spPr>
          <a:xfrm>
            <a:off x="1912482" y="3429000"/>
            <a:ext cx="1296189" cy="92333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ARP Filter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Type:</a:t>
            </a:r>
          </a:p>
          <a:p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arp</a:t>
            </a:r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813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2B2843-5AAE-6718-1784-EB570BD87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D22952-CF12-5075-1649-6043C000FE5E}"/>
              </a:ext>
            </a:extLst>
          </p:cNvPr>
          <p:cNvSpPr txBox="1"/>
          <p:nvPr/>
        </p:nvSpPr>
        <p:spPr>
          <a:xfrm>
            <a:off x="6020464" y="142875"/>
            <a:ext cx="1411605" cy="92333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 Filter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Type: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80A7C4-0290-04B0-3A58-3F77593FB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81"/>
          <a:stretch>
            <a:fillRect/>
          </a:stretch>
        </p:blipFill>
        <p:spPr>
          <a:xfrm>
            <a:off x="29903" y="0"/>
            <a:ext cx="5990561" cy="43485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3D3C65-44CC-5CC2-3D37-6458D2689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0464" y="1702971"/>
            <a:ext cx="6141633" cy="51550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C964AB-6BA6-156D-DD82-A83B89EFDD1E}"/>
              </a:ext>
            </a:extLst>
          </p:cNvPr>
          <p:cNvSpPr txBox="1"/>
          <p:nvPr/>
        </p:nvSpPr>
        <p:spPr>
          <a:xfrm>
            <a:off x="3001689" y="4805144"/>
            <a:ext cx="3018775" cy="120032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Investigate Special Filters</a:t>
            </a:r>
          </a:p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TCP Reset Packets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Filter:</a:t>
            </a:r>
          </a:p>
          <a:p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tcp.flags.reset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== 1</a:t>
            </a:r>
          </a:p>
        </p:txBody>
      </p:sp>
    </p:spTree>
    <p:extLst>
      <p:ext uri="{BB962C8B-B14F-4D97-AF65-F5344CB8AC3E}">
        <p14:creationId xmlns:p14="http://schemas.microsoft.com/office/powerpoint/2010/main" val="1957745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81885E-044F-1CEA-81F4-AAE821B8E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D28E89-BD2A-5E49-C764-9804C437D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34073" cy="4257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ECA47A-1069-D225-B8DF-FD36E3EE7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074" y="2304412"/>
            <a:ext cx="6257925" cy="45345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F1A28D-ECD4-0246-A345-68C67981560F}"/>
              </a:ext>
            </a:extLst>
          </p:cNvPr>
          <p:cNvSpPr txBox="1"/>
          <p:nvPr/>
        </p:nvSpPr>
        <p:spPr>
          <a:xfrm>
            <a:off x="3817147" y="4876800"/>
            <a:ext cx="2116926" cy="92333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TCP SYN Packets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Filter:</a:t>
            </a:r>
          </a:p>
          <a:p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tcp.flags.syn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2D9E05-86CE-C6AE-B75D-04D4EC055D02}"/>
              </a:ext>
            </a:extLst>
          </p:cNvPr>
          <p:cNvSpPr txBox="1"/>
          <p:nvPr/>
        </p:nvSpPr>
        <p:spPr>
          <a:xfrm>
            <a:off x="5934073" y="409575"/>
            <a:ext cx="2270814" cy="92333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TCP Reset Packets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Filter:</a:t>
            </a:r>
          </a:p>
          <a:p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tcp.flags.reset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== 1</a:t>
            </a:r>
          </a:p>
        </p:txBody>
      </p:sp>
    </p:spTree>
    <p:extLst>
      <p:ext uri="{BB962C8B-B14F-4D97-AF65-F5344CB8AC3E}">
        <p14:creationId xmlns:p14="http://schemas.microsoft.com/office/powerpoint/2010/main" val="3524298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2DA9D4-071D-4B1F-62E5-C640E0AEF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B3E76F-5C26-8DD3-F735-77FDBB09E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274252"/>
              </p:ext>
            </p:extLst>
          </p:nvPr>
        </p:nvGraphicFramePr>
        <p:xfrm>
          <a:off x="0" y="0"/>
          <a:ext cx="12191999" cy="68643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7482">
                  <a:extLst>
                    <a:ext uri="{9D8B030D-6E8A-4147-A177-3AD203B41FA5}">
                      <a16:colId xmlns:a16="http://schemas.microsoft.com/office/drawing/2014/main" val="2064341653"/>
                    </a:ext>
                  </a:extLst>
                </a:gridCol>
                <a:gridCol w="1310042">
                  <a:extLst>
                    <a:ext uri="{9D8B030D-6E8A-4147-A177-3AD203B41FA5}">
                      <a16:colId xmlns:a16="http://schemas.microsoft.com/office/drawing/2014/main" val="1934859788"/>
                    </a:ext>
                  </a:extLst>
                </a:gridCol>
                <a:gridCol w="1252668">
                  <a:extLst>
                    <a:ext uri="{9D8B030D-6E8A-4147-A177-3AD203B41FA5}">
                      <a16:colId xmlns:a16="http://schemas.microsoft.com/office/drawing/2014/main" val="2012307060"/>
                    </a:ext>
                  </a:extLst>
                </a:gridCol>
                <a:gridCol w="745864">
                  <a:extLst>
                    <a:ext uri="{9D8B030D-6E8A-4147-A177-3AD203B41FA5}">
                      <a16:colId xmlns:a16="http://schemas.microsoft.com/office/drawing/2014/main" val="2067064557"/>
                    </a:ext>
                  </a:extLst>
                </a:gridCol>
                <a:gridCol w="917986">
                  <a:extLst>
                    <a:ext uri="{9D8B030D-6E8A-4147-A177-3AD203B41FA5}">
                      <a16:colId xmlns:a16="http://schemas.microsoft.com/office/drawing/2014/main" val="2548231134"/>
                    </a:ext>
                  </a:extLst>
                </a:gridCol>
                <a:gridCol w="1176169">
                  <a:extLst>
                    <a:ext uri="{9D8B030D-6E8A-4147-A177-3AD203B41FA5}">
                      <a16:colId xmlns:a16="http://schemas.microsoft.com/office/drawing/2014/main" val="1995333139"/>
                    </a:ext>
                  </a:extLst>
                </a:gridCol>
                <a:gridCol w="1434353">
                  <a:extLst>
                    <a:ext uri="{9D8B030D-6E8A-4147-A177-3AD203B41FA5}">
                      <a16:colId xmlns:a16="http://schemas.microsoft.com/office/drawing/2014/main" val="2779590212"/>
                    </a:ext>
                  </a:extLst>
                </a:gridCol>
                <a:gridCol w="4207435">
                  <a:extLst>
                    <a:ext uri="{9D8B030D-6E8A-4147-A177-3AD203B41FA5}">
                      <a16:colId xmlns:a16="http://schemas.microsoft.com/office/drawing/2014/main" val="843464396"/>
                    </a:ext>
                  </a:extLst>
                </a:gridCol>
              </a:tblGrid>
              <a:tr h="425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Source 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Destination 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Protocol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Source 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Destination 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Packet 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Security Observation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5037606"/>
                  </a:ext>
                </a:extLst>
              </a:tr>
              <a:tr h="595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7.294815329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59336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Standard DNS Query (query 0x7f0)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Normal DNS request sent to the local DNS server for domain resolution.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274040"/>
                  </a:ext>
                </a:extLst>
              </a:tr>
              <a:tr h="435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7.294931800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59336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Standard DNS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DNS server successfully returned a response to the client.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188152"/>
                  </a:ext>
                </a:extLst>
              </a:tr>
              <a:tr h="330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37.303869734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89.111.28.78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39708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TCP SYN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new TCP connection was initiated to an HTTPS server.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0951211"/>
                  </a:ext>
                </a:extLst>
              </a:tr>
              <a:tr h="435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7.492145201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89.111.28.78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39708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SYN-ACK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remote server accepted the connection request, indicating a successful handshake.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1205965"/>
                  </a:ext>
                </a:extLst>
              </a:tr>
              <a:tr h="425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7.493646381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89.111.28.78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TLSv1.3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39708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Client Hello (SNI)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secure TLS handshake started for encrypted HTTPS communication.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0944803"/>
                  </a:ext>
                </a:extLst>
              </a:tr>
              <a:tr h="330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8.255094733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89.111.28.78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TLSv1.3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39708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Server Hello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server negotiated encryption successfully.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3003951"/>
                  </a:ext>
                </a:extLst>
              </a:tr>
              <a:tr h="435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112.867457304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59336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Standard DNS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local DNS server completed another successful name resolution.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9651500"/>
                  </a:ext>
                </a:extLst>
              </a:tr>
              <a:tr h="435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135.410990875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192.46.215.60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59336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NTP Version 4 Client Request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system synchronized its clock with an NTP server, which is normal system behavior.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683642"/>
                  </a:ext>
                </a:extLst>
              </a:tr>
              <a:tr h="435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135.454349487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192.46.215.60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59336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NTP Version 4 Server Reply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NTP server returned the correct time to the client.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483477"/>
                  </a:ext>
                </a:extLst>
              </a:tr>
              <a:tr h="425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147.734784826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8.8.8.8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ICMP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Echo (Ping) Request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host tested network connectivity with Google's DNS server.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2171815"/>
                  </a:ext>
                </a:extLst>
              </a:tr>
              <a:tr h="425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147.748924934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8.8.8.8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ICMP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Echo (Ping) Reply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successful reply confirmed external network connectivity.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0679464"/>
                  </a:ext>
                </a:extLst>
              </a:tr>
              <a:tr h="435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169.704177192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VMware_c7:5b:4f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Broadcast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"Who has 192.168.188.121?"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device attempted to discover the MAC address of another host on the LAN.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5650868"/>
                  </a:ext>
                </a:extLst>
              </a:tr>
              <a:tr h="435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8.935089360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224.0.0.252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LLMNR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Standard Query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LLMNR requests were used for local hostname resolution on the network.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1549854"/>
                  </a:ext>
                </a:extLst>
              </a:tr>
              <a:tr h="425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9.031733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10.5.28.229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50.19.115.217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 GET / HTTP/1.1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standard web page request was captured over unencrypted HTTP.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8113873"/>
                  </a:ext>
                </a:extLst>
              </a:tr>
              <a:tr h="425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9.089014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50.19.115.217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10.5.28.229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HTTP/1.1 200 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web server successfully returned the requested webpage.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2750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32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92CB3A-DB89-DE0A-77F8-422B634B3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477EBC-F9A4-D928-C036-EBC07403A4D6}"/>
              </a:ext>
            </a:extLst>
          </p:cNvPr>
          <p:cNvSpPr txBox="1"/>
          <p:nvPr/>
        </p:nvSpPr>
        <p:spPr>
          <a:xfrm>
            <a:off x="4025978" y="304800"/>
            <a:ext cx="4878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10 – Nmap + Wireshark Investigation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C5BF2D-0273-1AEA-29A7-ADF169561B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890115"/>
            <a:ext cx="4800600" cy="59678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C7E70C-19E1-8109-B2C5-120CD547FA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0114"/>
            <a:ext cx="4333875" cy="59678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B041B2-EB8A-0B13-2F8E-6F40C06C8A7B}"/>
              </a:ext>
            </a:extLst>
          </p:cNvPr>
          <p:cNvSpPr txBox="1"/>
          <p:nvPr/>
        </p:nvSpPr>
        <p:spPr>
          <a:xfrm>
            <a:off x="4576761" y="2994005"/>
            <a:ext cx="2571750" cy="369331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1: Start Your Lab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 your IP:</a:t>
            </a:r>
          </a:p>
          <a:p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</a:t>
            </a:r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target: 192.168.188.131</a:t>
            </a:r>
          </a:p>
          <a:p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2: Run Nmap While Capturing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another Terminal.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the SYN scan.</a:t>
            </a:r>
          </a:p>
          <a:p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nmap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-O -</a:t>
            </a:r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192.168.188.131/24 -</a:t>
            </a:r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task.txt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C9FF27-C332-7349-ED13-F814F0BB9280}"/>
              </a:ext>
            </a:extLst>
          </p:cNvPr>
          <p:cNvSpPr txBox="1"/>
          <p:nvPr/>
        </p:nvSpPr>
        <p:spPr>
          <a:xfrm>
            <a:off x="4576760" y="1353235"/>
            <a:ext cx="2571751" cy="12003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 Understand what an Nmap scan looks like at the packet level.</a:t>
            </a:r>
          </a:p>
        </p:txBody>
      </p:sp>
    </p:spTree>
    <p:extLst>
      <p:ext uri="{BB962C8B-B14F-4D97-AF65-F5344CB8AC3E}">
        <p14:creationId xmlns:p14="http://schemas.microsoft.com/office/powerpoint/2010/main" val="957996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94EB39-67B7-00D3-8D7F-8D57AA307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8FD2F2-35F1-CC3A-46A8-B4149F87D9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0"/>
            <a:ext cx="6096000" cy="39175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DEF6A6-E931-5A00-B6C2-DCB21574C6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309"/>
          <a:stretch>
            <a:fillRect/>
          </a:stretch>
        </p:blipFill>
        <p:spPr>
          <a:xfrm>
            <a:off x="1" y="3067050"/>
            <a:ext cx="6095999" cy="37909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8E03946-CC58-FDC2-9947-1C85BDE3EDED}"/>
              </a:ext>
            </a:extLst>
          </p:cNvPr>
          <p:cNvSpPr txBox="1"/>
          <p:nvPr/>
        </p:nvSpPr>
        <p:spPr>
          <a:xfrm>
            <a:off x="2466975" y="152400"/>
            <a:ext cx="3019425" cy="175432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3: Open Wireshark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Wireshark.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the correct interface (eth0).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Start Capturing.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not stop the capture yet.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F374A4-1B9A-4A8C-177C-7C2E82060B8F}"/>
              </a:ext>
            </a:extLst>
          </p:cNvPr>
          <p:cNvSpPr txBox="1"/>
          <p:nvPr/>
        </p:nvSpPr>
        <p:spPr>
          <a:xfrm>
            <a:off x="2111309" y="1958799"/>
            <a:ext cx="3933769" cy="92333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4: Filter the Scan Traffic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SYN scan creates TCP packets.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Filter: </a:t>
            </a:r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ip.addr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==34.104.35.123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B5CF0B-9589-224B-07F7-E5D52EFDB6D5}"/>
              </a:ext>
            </a:extLst>
          </p:cNvPr>
          <p:cNvSpPr txBox="1"/>
          <p:nvPr/>
        </p:nvSpPr>
        <p:spPr>
          <a:xfrm>
            <a:off x="6381750" y="4810125"/>
            <a:ext cx="2980303" cy="64633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5: Find SYN Packets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Filter: </a:t>
            </a:r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tcp.port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==80</a:t>
            </a:r>
          </a:p>
        </p:txBody>
      </p:sp>
    </p:spTree>
    <p:extLst>
      <p:ext uri="{BB962C8B-B14F-4D97-AF65-F5344CB8AC3E}">
        <p14:creationId xmlns:p14="http://schemas.microsoft.com/office/powerpoint/2010/main" val="756776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F3B7A1-6285-A690-9E7A-2501DC82B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2CB6A4-6C1F-D03D-9556-F805A8A190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20"/>
          <a:stretch>
            <a:fillRect/>
          </a:stretch>
        </p:blipFill>
        <p:spPr>
          <a:xfrm>
            <a:off x="0" y="1"/>
            <a:ext cx="6413944" cy="33051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FBC491-6C7F-C35C-FF14-EBD5A6B335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39"/>
          <a:stretch>
            <a:fillRect/>
          </a:stretch>
        </p:blipFill>
        <p:spPr>
          <a:xfrm>
            <a:off x="5553074" y="3305174"/>
            <a:ext cx="6638925" cy="3552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0A3676-BA2B-7EE8-BF47-50798A9B46F1}"/>
              </a:ext>
            </a:extLst>
          </p:cNvPr>
          <p:cNvSpPr txBox="1"/>
          <p:nvPr/>
        </p:nvSpPr>
        <p:spPr>
          <a:xfrm>
            <a:off x="6413944" y="485775"/>
            <a:ext cx="3980577" cy="92333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7: Find SYN/ACK Responses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Use:</a:t>
            </a:r>
          </a:p>
          <a:p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tcp.flags.syn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==1 &amp;&amp; </a:t>
            </a:r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tcp.flags.ack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==1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688341-BCA3-C821-7E8A-C37993A58C3A}"/>
              </a:ext>
            </a:extLst>
          </p:cNvPr>
          <p:cNvSpPr txBox="1"/>
          <p:nvPr/>
        </p:nvSpPr>
        <p:spPr>
          <a:xfrm>
            <a:off x="2585595" y="4158256"/>
            <a:ext cx="2967479" cy="92333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8: Find RST Packets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Filter:</a:t>
            </a:r>
          </a:p>
          <a:p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tcp.flags.reset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==1</a:t>
            </a:r>
          </a:p>
        </p:txBody>
      </p:sp>
    </p:spTree>
    <p:extLst>
      <p:ext uri="{BB962C8B-B14F-4D97-AF65-F5344CB8AC3E}">
        <p14:creationId xmlns:p14="http://schemas.microsoft.com/office/powerpoint/2010/main" val="2123630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7D70F7-1E9F-679F-80BA-7E1ACB81C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5846A4-6667-3E90-5D7B-22DFE96575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260" y="778476"/>
            <a:ext cx="7475744" cy="45961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60E3A7-15AD-2F30-D602-A4FF5C8BB8F6}"/>
              </a:ext>
            </a:extLst>
          </p:cNvPr>
          <p:cNvSpPr txBox="1"/>
          <p:nvPr/>
        </p:nvSpPr>
        <p:spPr>
          <a:xfrm>
            <a:off x="1955146" y="2409825"/>
            <a:ext cx="2478114" cy="92333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Step 9: Find RST Packets</a:t>
            </a:r>
          </a:p>
          <a:p>
            <a:r>
              <a:rPr lang="en-IN" dirty="0">
                <a:solidFill>
                  <a:schemeClr val="bg1"/>
                </a:solidFill>
              </a:rPr>
              <a:t>Filter:</a:t>
            </a:r>
          </a:p>
          <a:p>
            <a:r>
              <a:rPr lang="en-IN" dirty="0" err="1">
                <a:solidFill>
                  <a:schemeClr val="bg1"/>
                </a:solidFill>
              </a:rPr>
              <a:t>tcp.flags.syn</a:t>
            </a:r>
            <a:r>
              <a:rPr lang="en-IN" dirty="0">
                <a:solidFill>
                  <a:schemeClr val="bg1"/>
                </a:solidFill>
              </a:rPr>
              <a:t>==1</a:t>
            </a:r>
          </a:p>
        </p:txBody>
      </p:sp>
    </p:spTree>
    <p:extLst>
      <p:ext uri="{BB962C8B-B14F-4D97-AF65-F5344CB8AC3E}">
        <p14:creationId xmlns:p14="http://schemas.microsoft.com/office/powerpoint/2010/main" val="34942658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2AA2A3-017B-4E89-19BD-40282A6A6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36DEBB-629C-0EAB-54B6-ABA92A94A178}"/>
              </a:ext>
            </a:extLst>
          </p:cNvPr>
          <p:cNvSpPr txBox="1"/>
          <p:nvPr/>
        </p:nvSpPr>
        <p:spPr>
          <a:xfrm>
            <a:off x="2647948" y="127456"/>
            <a:ext cx="731520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SYN Packets Analysis</a:t>
            </a:r>
          </a:p>
          <a:p>
            <a:pPr>
              <a:buNone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 used:</a:t>
            </a:r>
          </a:p>
          <a:p>
            <a:pPr rtl="0">
              <a:buNone/>
            </a:pP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tcp.flags.syn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==1</a:t>
            </a:r>
          </a:p>
          <a:p>
            <a:pPr>
              <a:buNone/>
            </a:pP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Actual Evidence</a:t>
            </a:r>
          </a:p>
          <a:p>
            <a:pPr>
              <a:buNone/>
            </a:pP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scanning host (192.168.188.128) sent SYN packets to multiple destination ports.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Ports scanned included 53, 80, 22, 110, 587, and 199.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confirms that Nmap attempted connections without completing the TCP handshake.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4F41E9-DD38-4D4E-A630-0FEFECA4B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267104"/>
              </p:ext>
            </p:extLst>
          </p:nvPr>
        </p:nvGraphicFramePr>
        <p:xfrm>
          <a:off x="2647948" y="1052393"/>
          <a:ext cx="7315204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4639">
                  <a:extLst>
                    <a:ext uri="{9D8B030D-6E8A-4147-A177-3AD203B41FA5}">
                      <a16:colId xmlns:a16="http://schemas.microsoft.com/office/drawing/2014/main" val="3508093475"/>
                    </a:ext>
                  </a:extLst>
                </a:gridCol>
                <a:gridCol w="1116890">
                  <a:extLst>
                    <a:ext uri="{9D8B030D-6E8A-4147-A177-3AD203B41FA5}">
                      <a16:colId xmlns:a16="http://schemas.microsoft.com/office/drawing/2014/main" val="1436729562"/>
                    </a:ext>
                  </a:extLst>
                </a:gridCol>
                <a:gridCol w="1464774">
                  <a:extLst>
                    <a:ext uri="{9D8B030D-6E8A-4147-A177-3AD203B41FA5}">
                      <a16:colId xmlns:a16="http://schemas.microsoft.com/office/drawing/2014/main" val="3100473444"/>
                    </a:ext>
                  </a:extLst>
                </a:gridCol>
                <a:gridCol w="1391537">
                  <a:extLst>
                    <a:ext uri="{9D8B030D-6E8A-4147-A177-3AD203B41FA5}">
                      <a16:colId xmlns:a16="http://schemas.microsoft.com/office/drawing/2014/main" val="2527399898"/>
                    </a:ext>
                  </a:extLst>
                </a:gridCol>
                <a:gridCol w="1336607">
                  <a:extLst>
                    <a:ext uri="{9D8B030D-6E8A-4147-A177-3AD203B41FA5}">
                      <a16:colId xmlns:a16="http://schemas.microsoft.com/office/drawing/2014/main" val="18277622"/>
                    </a:ext>
                  </a:extLst>
                </a:gridCol>
                <a:gridCol w="1080757">
                  <a:extLst>
                    <a:ext uri="{9D8B030D-6E8A-4147-A177-3AD203B41FA5}">
                      <a16:colId xmlns:a16="http://schemas.microsoft.com/office/drawing/2014/main" val="3514981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Packet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Source 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Target 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Destination 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TCP Flag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7180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1722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6.224279705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192.168.188.128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192.168.188.1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SYN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5525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1724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6.224745283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192.168.188.2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192.168.188.128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SYN, 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1384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1741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6.228693999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192.168.188.128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192.168.188.2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SYN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03469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4F90A8-6F3B-275F-EF3A-207A94658F20}"/>
              </a:ext>
            </a:extLst>
          </p:cNvPr>
          <p:cNvSpPr txBox="1"/>
          <p:nvPr/>
        </p:nvSpPr>
        <p:spPr>
          <a:xfrm>
            <a:off x="2647950" y="3451443"/>
            <a:ext cx="703897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SYN/ACK Response Analysis</a:t>
            </a:r>
          </a:p>
          <a:p>
            <a:pPr>
              <a:buNone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 used:</a:t>
            </a:r>
          </a:p>
          <a:p>
            <a:pPr rtl="0">
              <a:buNone/>
            </a:pP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tcp.flags.syn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==1 &amp;&amp; 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tcp.flags.ack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==1</a:t>
            </a:r>
          </a:p>
          <a:p>
            <a:pPr>
              <a:buNone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Actual Evidence</a:t>
            </a:r>
          </a:p>
          <a:p>
            <a:pPr>
              <a:buNone/>
            </a:pP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SYN/ACK indicates that the destination port accepted the connection request.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 53 responded from 192.168.188.2, matching Nmap's DNS result.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 80 also returned SYN/ACK responses, confirming the web service was reachable.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3B46BF0-3B24-97E6-7919-5B28258F2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117565"/>
              </p:ext>
            </p:extLst>
          </p:nvPr>
        </p:nvGraphicFramePr>
        <p:xfrm>
          <a:off x="2647948" y="4492884"/>
          <a:ext cx="7038973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0525">
                  <a:extLst>
                    <a:ext uri="{9D8B030D-6E8A-4147-A177-3AD203B41FA5}">
                      <a16:colId xmlns:a16="http://schemas.microsoft.com/office/drawing/2014/main" val="2479743951"/>
                    </a:ext>
                  </a:extLst>
                </a:gridCol>
                <a:gridCol w="1279813">
                  <a:extLst>
                    <a:ext uri="{9D8B030D-6E8A-4147-A177-3AD203B41FA5}">
                      <a16:colId xmlns:a16="http://schemas.microsoft.com/office/drawing/2014/main" val="3140983063"/>
                    </a:ext>
                  </a:extLst>
                </a:gridCol>
                <a:gridCol w="1461120">
                  <a:extLst>
                    <a:ext uri="{9D8B030D-6E8A-4147-A177-3AD203B41FA5}">
                      <a16:colId xmlns:a16="http://schemas.microsoft.com/office/drawing/2014/main" val="2643724327"/>
                    </a:ext>
                  </a:extLst>
                </a:gridCol>
                <a:gridCol w="1407795">
                  <a:extLst>
                    <a:ext uri="{9D8B030D-6E8A-4147-A177-3AD203B41FA5}">
                      <a16:colId xmlns:a16="http://schemas.microsoft.com/office/drawing/2014/main" val="458170907"/>
                    </a:ext>
                  </a:extLst>
                </a:gridCol>
                <a:gridCol w="1034516">
                  <a:extLst>
                    <a:ext uri="{9D8B030D-6E8A-4147-A177-3AD203B41FA5}">
                      <a16:colId xmlns:a16="http://schemas.microsoft.com/office/drawing/2014/main" val="3641562992"/>
                    </a:ext>
                  </a:extLst>
                </a:gridCol>
                <a:gridCol w="885204">
                  <a:extLst>
                    <a:ext uri="{9D8B030D-6E8A-4147-A177-3AD203B41FA5}">
                      <a16:colId xmlns:a16="http://schemas.microsoft.com/office/drawing/2014/main" val="18072599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Packet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Source 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Target 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Source 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TCP Flag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7844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1724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6.224745283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192.168.188.2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192.168.188.128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SYN, 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290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11281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18.788867503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91.189.91.96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192.168.188.131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SYN, 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8476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11285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18.912093658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185.125.190.101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192.168.188.131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SYN, 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8816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92589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5A2910-8D80-2A87-6028-E976A9E12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5FC1C6-473C-70AA-D3D5-7FE8F6DBD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956729"/>
              </p:ext>
            </p:extLst>
          </p:nvPr>
        </p:nvGraphicFramePr>
        <p:xfrm>
          <a:off x="2705099" y="936040"/>
          <a:ext cx="6334125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6775">
                  <a:extLst>
                    <a:ext uri="{9D8B030D-6E8A-4147-A177-3AD203B41FA5}">
                      <a16:colId xmlns:a16="http://schemas.microsoft.com/office/drawing/2014/main" val="3320282209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464416809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322228723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17775354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197286624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1085645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Packet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Source 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Target 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Source 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TCP Flag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7876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1707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6.221576821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192.168.188.2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192.168.188.128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RST, 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610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1723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6.223575626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192.168.188.2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192.168.188.128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587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RST, 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8540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1725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6.225512745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192.168.188.128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192.168.188.2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5818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1746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6.229078048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192.168.188.131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192.168.188.128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RST, 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113395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90C0889-58AA-3731-4E03-FF37DC21AF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819840"/>
              </p:ext>
            </p:extLst>
          </p:nvPr>
        </p:nvGraphicFramePr>
        <p:xfrm>
          <a:off x="2581275" y="4832092"/>
          <a:ext cx="6457949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55647">
                  <a:extLst>
                    <a:ext uri="{9D8B030D-6E8A-4147-A177-3AD203B41FA5}">
                      <a16:colId xmlns:a16="http://schemas.microsoft.com/office/drawing/2014/main" val="1407060069"/>
                    </a:ext>
                  </a:extLst>
                </a:gridCol>
                <a:gridCol w="4202302">
                  <a:extLst>
                    <a:ext uri="{9D8B030D-6E8A-4147-A177-3AD203B41FA5}">
                      <a16:colId xmlns:a16="http://schemas.microsoft.com/office/drawing/2014/main" val="650088607"/>
                    </a:ext>
                  </a:extLst>
                </a:gridCol>
              </a:tblGrid>
              <a:tr h="162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Service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8916"/>
                  </a:ext>
                </a:extLst>
              </a:tr>
              <a:tr h="162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3616263"/>
                  </a:ext>
                </a:extLst>
              </a:tr>
              <a:tr h="162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HTTP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068103"/>
                  </a:ext>
                </a:extLst>
              </a:tr>
              <a:tr h="162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1243271"/>
                  </a:ext>
                </a:extLst>
              </a:tr>
              <a:tr h="162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POP3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4914410"/>
                  </a:ext>
                </a:extLst>
              </a:tr>
              <a:tr h="162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587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SMTP Submission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2315098"/>
                  </a:ext>
                </a:extLst>
              </a:tr>
              <a:tr h="162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Dynamic 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3081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C2565B1-C408-5648-344F-B59EC2970948}"/>
              </a:ext>
            </a:extLst>
          </p:cNvPr>
          <p:cNvSpPr txBox="1"/>
          <p:nvPr/>
        </p:nvSpPr>
        <p:spPr>
          <a:xfrm>
            <a:off x="2581275" y="0"/>
            <a:ext cx="6581775" cy="469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RST Response Analysis</a:t>
            </a:r>
          </a:p>
          <a:p>
            <a:pPr>
              <a:buNone/>
            </a:pPr>
            <a:r>
              <a:rPr lang="en-IN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 used:</a:t>
            </a:r>
          </a:p>
          <a:p>
            <a:pPr rtl="0">
              <a:buNone/>
            </a:pPr>
            <a:r>
              <a:rPr lang="en-IN" sz="13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tcp.flags.reset</a:t>
            </a:r>
            <a:r>
              <a:rPr lang="en-IN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==1</a:t>
            </a:r>
          </a:p>
          <a:p>
            <a:pPr>
              <a:buNone/>
            </a:pPr>
            <a:r>
              <a:rPr lang="en-IN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Actual Evidence</a:t>
            </a:r>
          </a:p>
          <a:p>
            <a:pPr>
              <a:buNone/>
            </a:pPr>
            <a:endParaRPr lang="en-IN" sz="13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IN" sz="13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IN" sz="13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IN" sz="13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IN" sz="13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IN" sz="13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IN" sz="13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IN" sz="13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Several RST packets appeared immediately after connection attempts.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expected </a:t>
            </a:r>
            <a:r>
              <a:rPr lang="en-IN" sz="13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behavior</a:t>
            </a:r>
            <a:r>
              <a:rPr lang="en-IN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an Nmap SYN scan because Nmap resets the connection instead of completing it.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RST packets from other ports also indicate that some scanned ports were closed.</a:t>
            </a:r>
          </a:p>
          <a:p>
            <a:pPr lvl="0"/>
            <a:endParaRPr lang="en-IN" sz="13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Destination Ports Observed</a:t>
            </a:r>
          </a:p>
          <a:p>
            <a:pPr>
              <a:buNone/>
            </a:pPr>
            <a:r>
              <a:rPr lang="en-IN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SYN scan attempted connections to multiple ports.</a:t>
            </a:r>
          </a:p>
          <a:p>
            <a:pPr>
              <a:buNone/>
            </a:pPr>
            <a:r>
              <a:rPr lang="en-IN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Nmap rapidly tested several common service ports.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ports 53 and 80 showed successful responses.</a:t>
            </a:r>
          </a:p>
        </p:txBody>
      </p:sp>
    </p:spTree>
    <p:extLst>
      <p:ext uri="{BB962C8B-B14F-4D97-AF65-F5344CB8AC3E}">
        <p14:creationId xmlns:p14="http://schemas.microsoft.com/office/powerpoint/2010/main" val="10087025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EECD49-DA87-92FF-7847-063F4BA15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DF7CC1-026B-95B9-F087-D295E6CF2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780007"/>
              </p:ext>
            </p:extLst>
          </p:nvPr>
        </p:nvGraphicFramePr>
        <p:xfrm>
          <a:off x="2895600" y="341749"/>
          <a:ext cx="611059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55295">
                  <a:extLst>
                    <a:ext uri="{9D8B030D-6E8A-4147-A177-3AD203B41FA5}">
                      <a16:colId xmlns:a16="http://schemas.microsoft.com/office/drawing/2014/main" val="477162589"/>
                    </a:ext>
                  </a:extLst>
                </a:gridCol>
                <a:gridCol w="3055295">
                  <a:extLst>
                    <a:ext uri="{9D8B030D-6E8A-4147-A177-3AD203B41FA5}">
                      <a16:colId xmlns:a16="http://schemas.microsoft.com/office/drawing/2014/main" val="38829693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48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Scanning Host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192.168.188.128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1974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DNS 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192.168.188.2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6110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Web 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192.168.188.131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6102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Additional External Hosts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91.189.91.96, 185.125.190.101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221058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2122DE3-7837-A073-142C-CA10B8090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26155"/>
              </p:ext>
            </p:extLst>
          </p:nvPr>
        </p:nvGraphicFramePr>
        <p:xfrm>
          <a:off x="2895599" y="5684520"/>
          <a:ext cx="6791326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4477">
                  <a:extLst>
                    <a:ext uri="{9D8B030D-6E8A-4147-A177-3AD203B41FA5}">
                      <a16:colId xmlns:a16="http://schemas.microsoft.com/office/drawing/2014/main" val="696478102"/>
                    </a:ext>
                  </a:extLst>
                </a:gridCol>
                <a:gridCol w="5276849">
                  <a:extLst>
                    <a:ext uri="{9D8B030D-6E8A-4147-A177-3AD203B41FA5}">
                      <a16:colId xmlns:a16="http://schemas.microsoft.com/office/drawing/2014/main" val="30221348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Packet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Observation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9330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SYN Packets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Multiple connection attempts were observed across common ports.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1213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SYN/ACK Responses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Received mainly from ports 53 and 80.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378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RST Responses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Several reset packets appeared after successful or rejected connection attempts.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851579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61CF735-249A-907B-DB3B-DAF71821F279}"/>
              </a:ext>
            </a:extLst>
          </p:cNvPr>
          <p:cNvSpPr txBox="1"/>
          <p:nvPr/>
        </p:nvSpPr>
        <p:spPr>
          <a:xfrm>
            <a:off x="2819399" y="17364"/>
            <a:ext cx="6115414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chemeClr val="bg1"/>
                </a:solidFill>
              </a:rPr>
              <a:t>Source and Target IP Analysis</a:t>
            </a:r>
          </a:p>
          <a:p>
            <a:pPr>
              <a:buNone/>
            </a:pPr>
            <a:endParaRPr lang="en-IN" sz="1400" b="1" dirty="0">
              <a:solidFill>
                <a:schemeClr val="bg1"/>
              </a:solidFill>
            </a:endParaRPr>
          </a:p>
          <a:p>
            <a:pPr>
              <a:buNone/>
            </a:pPr>
            <a:endParaRPr lang="en-IN" sz="1400" b="1" dirty="0">
              <a:solidFill>
                <a:schemeClr val="bg1"/>
              </a:solidFill>
            </a:endParaRPr>
          </a:p>
          <a:p>
            <a:pPr>
              <a:buNone/>
            </a:pPr>
            <a:endParaRPr lang="en-IN" sz="1400" b="1" dirty="0">
              <a:solidFill>
                <a:schemeClr val="bg1"/>
              </a:solidFill>
            </a:endParaRPr>
          </a:p>
          <a:p>
            <a:pPr>
              <a:buNone/>
            </a:pPr>
            <a:endParaRPr lang="en-IN" sz="1400" b="1" dirty="0">
              <a:solidFill>
                <a:schemeClr val="bg1"/>
              </a:solidFill>
            </a:endParaRPr>
          </a:p>
          <a:p>
            <a:pPr>
              <a:buNone/>
            </a:pPr>
            <a:endParaRPr lang="en-IN" sz="1400" b="1" dirty="0">
              <a:solidFill>
                <a:schemeClr val="bg1"/>
              </a:solidFill>
            </a:endParaRPr>
          </a:p>
          <a:p>
            <a:pPr>
              <a:buNone/>
            </a:pPr>
            <a:endParaRPr lang="en-IN" sz="1400" b="1" dirty="0">
              <a:solidFill>
                <a:schemeClr val="bg1"/>
              </a:solidFill>
            </a:endParaRPr>
          </a:p>
          <a:p>
            <a:pPr>
              <a:buNone/>
            </a:pPr>
            <a:endParaRPr lang="en-IN" sz="1400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IN" sz="1400" b="1" dirty="0">
                <a:solidFill>
                  <a:schemeClr val="bg1"/>
                </a:solidFill>
              </a:rPr>
              <a:t>Observation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Most scan traffic originated from the scanning machine (</a:t>
            </a:r>
            <a:r>
              <a:rPr lang="en-IN" sz="1400" dirty="0">
                <a:solidFill>
                  <a:schemeClr val="bg1"/>
                </a:solidFill>
                <a:latin typeface="+mn-lt"/>
              </a:rPr>
              <a:t>192.168.188.128</a:t>
            </a:r>
            <a:r>
              <a:rPr lang="en-IN" sz="1400" dirty="0">
                <a:solidFill>
                  <a:schemeClr val="bg1"/>
                </a:solidFill>
              </a:rPr>
              <a:t>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Responses came from the scanned hosts depending on port status.</a:t>
            </a:r>
          </a:p>
          <a:p>
            <a:pPr>
              <a:buNone/>
            </a:pPr>
            <a:r>
              <a:rPr lang="en-IN" sz="1400" b="1" dirty="0">
                <a:solidFill>
                  <a:schemeClr val="bg1"/>
                </a:solidFill>
              </a:rPr>
              <a:t>TCP Flags Analysis</a:t>
            </a:r>
          </a:p>
          <a:p>
            <a:pPr>
              <a:buNone/>
            </a:pPr>
            <a:endParaRPr lang="en-IN" sz="1400" b="1" dirty="0">
              <a:solidFill>
                <a:schemeClr val="bg1"/>
              </a:solidFill>
            </a:endParaRPr>
          </a:p>
          <a:p>
            <a:pPr>
              <a:buNone/>
            </a:pPr>
            <a:endParaRPr lang="en-IN" sz="1400" b="1" dirty="0">
              <a:solidFill>
                <a:schemeClr val="bg1"/>
              </a:solidFill>
            </a:endParaRPr>
          </a:p>
          <a:p>
            <a:pPr>
              <a:buNone/>
            </a:pPr>
            <a:endParaRPr lang="en-IN" sz="1400" b="1" dirty="0">
              <a:solidFill>
                <a:schemeClr val="bg1"/>
              </a:solidFill>
            </a:endParaRPr>
          </a:p>
          <a:p>
            <a:pPr>
              <a:buNone/>
            </a:pPr>
            <a:endParaRPr lang="en-IN" sz="1400" b="1" dirty="0">
              <a:solidFill>
                <a:schemeClr val="bg1"/>
              </a:solidFill>
            </a:endParaRPr>
          </a:p>
          <a:p>
            <a:pPr>
              <a:buNone/>
            </a:pPr>
            <a:endParaRPr lang="en-IN" sz="1400" b="1" dirty="0">
              <a:solidFill>
                <a:schemeClr val="bg1"/>
              </a:solidFill>
            </a:endParaRPr>
          </a:p>
          <a:p>
            <a:pPr>
              <a:buNone/>
            </a:pPr>
            <a:endParaRPr lang="en-IN" sz="1400" b="1" dirty="0">
              <a:solidFill>
                <a:schemeClr val="bg1"/>
              </a:solidFill>
            </a:endParaRPr>
          </a:p>
          <a:p>
            <a:pPr>
              <a:buNone/>
            </a:pPr>
            <a:endParaRPr lang="en-IN" sz="1400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IN" sz="1400" b="1" dirty="0">
                <a:solidFill>
                  <a:schemeClr val="bg1"/>
                </a:solidFill>
              </a:rPr>
              <a:t>Observation</a:t>
            </a:r>
          </a:p>
          <a:p>
            <a:pPr>
              <a:buNone/>
            </a:pPr>
            <a:r>
              <a:rPr lang="en-IN" sz="1400" dirty="0">
                <a:solidFill>
                  <a:schemeClr val="bg1"/>
                </a:solidFill>
              </a:rPr>
              <a:t>These flags clearly show how a TCP SYN scan works: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solidFill>
                  <a:schemeClr val="bg1"/>
                </a:solidFill>
              </a:rPr>
              <a:t>Nmap sends SYN.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solidFill>
                  <a:schemeClr val="bg1"/>
                </a:solidFill>
              </a:rPr>
              <a:t>Open ports reply with SYN/ACK.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solidFill>
                  <a:schemeClr val="bg1"/>
                </a:solidFill>
              </a:rPr>
              <a:t>Nmap immediately sends RST instead of completing the handshake.</a:t>
            </a:r>
          </a:p>
          <a:p>
            <a:pPr>
              <a:buNone/>
            </a:pPr>
            <a:r>
              <a:rPr lang="en-IN" sz="1400" b="1" dirty="0">
                <a:solidFill>
                  <a:schemeClr val="bg1"/>
                </a:solidFill>
              </a:rPr>
              <a:t>Number of Connection Attempts</a:t>
            </a:r>
          </a:p>
          <a:p>
            <a:pPr>
              <a:buNone/>
            </a:pPr>
            <a:r>
              <a:rPr lang="en-IN" sz="1400" dirty="0">
                <a:solidFill>
                  <a:schemeClr val="bg1"/>
                </a:solidFill>
              </a:rPr>
              <a:t>From the Wireshark capture: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AA43EC-D572-6DAE-9C6C-7CC02B02C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220319"/>
              </p:ext>
            </p:extLst>
          </p:nvPr>
        </p:nvGraphicFramePr>
        <p:xfrm>
          <a:off x="2909887" y="2677676"/>
          <a:ext cx="6096303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8480">
                  <a:extLst>
                    <a:ext uri="{9D8B030D-6E8A-4147-A177-3AD203B41FA5}">
                      <a16:colId xmlns:a16="http://schemas.microsoft.com/office/drawing/2014/main" val="2203246740"/>
                    </a:ext>
                  </a:extLst>
                </a:gridCol>
                <a:gridCol w="2687671">
                  <a:extLst>
                    <a:ext uri="{9D8B030D-6E8A-4147-A177-3AD203B41FA5}">
                      <a16:colId xmlns:a16="http://schemas.microsoft.com/office/drawing/2014/main" val="103855189"/>
                    </a:ext>
                  </a:extLst>
                </a:gridCol>
                <a:gridCol w="1530152">
                  <a:extLst>
                    <a:ext uri="{9D8B030D-6E8A-4147-A177-3AD203B41FA5}">
                      <a16:colId xmlns:a16="http://schemas.microsoft.com/office/drawing/2014/main" val="2539961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TCP Flag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Evidence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4782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SYN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Start a TCP connection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Packets 1722, 1741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787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SYN, 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Open port accepted the request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Packet 1724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7675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Connection reset by Nmap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Packet 1725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5099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RST, 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Closed port rejected the connection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Packet 1707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9523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75735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F55D3D-AECA-B014-A4ED-D15690B30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9D640F-1A3E-28C8-3D27-C904ABA3AB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267424"/>
              </p:ext>
            </p:extLst>
          </p:nvPr>
        </p:nvGraphicFramePr>
        <p:xfrm>
          <a:off x="1285875" y="1110774"/>
          <a:ext cx="105156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3175">
                  <a:extLst>
                    <a:ext uri="{9D8B030D-6E8A-4147-A177-3AD203B41FA5}">
                      <a16:colId xmlns:a16="http://schemas.microsoft.com/office/drawing/2014/main" val="41338674"/>
                    </a:ext>
                  </a:extLst>
                </a:gridCol>
                <a:gridCol w="3743325">
                  <a:extLst>
                    <a:ext uri="{9D8B030D-6E8A-4147-A177-3AD203B41FA5}">
                      <a16:colId xmlns:a16="http://schemas.microsoft.com/office/drawing/2014/main" val="2759677229"/>
                    </a:ext>
                  </a:extLst>
                </a:gridCol>
                <a:gridCol w="4229100">
                  <a:extLst>
                    <a:ext uri="{9D8B030D-6E8A-4147-A177-3AD203B41FA5}">
                      <a16:colId xmlns:a16="http://schemas.microsoft.com/office/drawing/2014/main" val="3894363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Nmap 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Wireshark Evidence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Interpretation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1680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Port 53 detected open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SYN → SYN/ACK (Packet 1724)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DNS service is reachable.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6422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Port 80 detected open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SYN → SYN/ACK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Apache web service is reachable.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96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Port 199 closed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SYN → RST, ACK (Packet 1707)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port is not accepting connections.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530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Port 587 closed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SYN → RST, ACK (Packet 1723)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SMTP Submission port rejected the request.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963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Port 22 no successful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SYN with no completed handshake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port is closed or filtered.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4138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Filtered hosts (192.168.188.1, 192.168.188.254)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expected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Firewall or packet filtering likely blocked the scan.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51325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649800B-F511-9160-F2D9-6B2C7793C04A}"/>
              </a:ext>
            </a:extLst>
          </p:cNvPr>
          <p:cNvSpPr txBox="1"/>
          <p:nvPr/>
        </p:nvSpPr>
        <p:spPr>
          <a:xfrm>
            <a:off x="1285875" y="4820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Nmap vs Wireshark Comparison</a:t>
            </a:r>
          </a:p>
        </p:txBody>
      </p:sp>
    </p:spTree>
    <p:extLst>
      <p:ext uri="{BB962C8B-B14F-4D97-AF65-F5344CB8AC3E}">
        <p14:creationId xmlns:p14="http://schemas.microsoft.com/office/powerpoint/2010/main" val="2696071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DE3C8A-0C1D-DB49-A104-C2FAA908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D2C98E-FEF7-5371-629F-634475EF6620}"/>
              </a:ext>
            </a:extLst>
          </p:cNvPr>
          <p:cNvSpPr txBox="1"/>
          <p:nvPr/>
        </p:nvSpPr>
        <p:spPr>
          <a:xfrm>
            <a:off x="3633788" y="186809"/>
            <a:ext cx="5434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11 – Advanced Network Traffic Investigation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F45321-2043-8784-458D-1DC2C4B735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64" y="1660359"/>
            <a:ext cx="5372246" cy="50108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9E4B3D4-7B0B-3FD6-E045-927CBDC5106A}"/>
              </a:ext>
            </a:extLst>
          </p:cNvPr>
          <p:cNvSpPr txBox="1"/>
          <p:nvPr/>
        </p:nvSpPr>
        <p:spPr>
          <a:xfrm>
            <a:off x="6200776" y="1977331"/>
            <a:ext cx="477678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1: Open the Capture File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Wireshark.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File → Open.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your capture file (task9.pcapng or task10_scan.pcapng).</a:t>
            </a:r>
          </a:p>
          <a:p>
            <a:pPr>
              <a:buNone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packet list will appear.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A9D7ED-CB8D-3E1D-A66C-7D7ED83B8CCC}"/>
              </a:ext>
            </a:extLst>
          </p:cNvPr>
          <p:cNvSpPr txBox="1"/>
          <p:nvPr/>
        </p:nvSpPr>
        <p:spPr>
          <a:xfrm>
            <a:off x="2333623" y="660383"/>
            <a:ext cx="81438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 Investigate network traffic from your own lab capture or a legitimate cybersecurity training ".</a:t>
            </a:r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pcap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/.</a:t>
            </a:r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pcapng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file.</a:t>
            </a:r>
          </a:p>
        </p:txBody>
      </p:sp>
    </p:spTree>
    <p:extLst>
      <p:ext uri="{BB962C8B-B14F-4D97-AF65-F5344CB8AC3E}">
        <p14:creationId xmlns:p14="http://schemas.microsoft.com/office/powerpoint/2010/main" val="29431657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00A8DF-6573-C181-2E05-B492ECB1A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181CBE-463B-3BBB-2A16-41F68F82529D}"/>
              </a:ext>
            </a:extLst>
          </p:cNvPr>
          <p:cNvSpPr txBox="1"/>
          <p:nvPr/>
        </p:nvSpPr>
        <p:spPr>
          <a:xfrm>
            <a:off x="2352675" y="819061"/>
            <a:ext cx="4495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2: Find the Top Communicating Hosts</a:t>
            </a:r>
          </a:p>
          <a:p>
            <a:pPr>
              <a:buNone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Wireshark provides conversation statistics.</a:t>
            </a:r>
          </a:p>
          <a:p>
            <a:pPr>
              <a:buNone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 to:</a:t>
            </a:r>
          </a:p>
          <a:p>
            <a:pPr>
              <a:buNone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Statistics → Conversations → IPv4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3A1F1-1322-1434-AFD6-3C789F14A6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937"/>
          <a:stretch>
            <a:fillRect/>
          </a:stretch>
        </p:blipFill>
        <p:spPr>
          <a:xfrm>
            <a:off x="2352674" y="2200275"/>
            <a:ext cx="8557131" cy="4514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180B0D-DF13-CE9E-BE53-453387D96FCA}"/>
              </a:ext>
            </a:extLst>
          </p:cNvPr>
          <p:cNvSpPr txBox="1"/>
          <p:nvPr/>
        </p:nvSpPr>
        <p:spPr>
          <a:xfrm>
            <a:off x="6631239" y="819061"/>
            <a:ext cx="49815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</a:t>
            </a:r>
          </a:p>
          <a:p>
            <a:pPr lvl="0"/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active source IP</a:t>
            </a:r>
          </a:p>
          <a:p>
            <a:pPr lvl="0"/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active destination IP</a:t>
            </a:r>
          </a:p>
          <a:p>
            <a:pPr lvl="0"/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 of packets exchanged</a:t>
            </a:r>
          </a:p>
        </p:txBody>
      </p:sp>
    </p:spTree>
    <p:extLst>
      <p:ext uri="{BB962C8B-B14F-4D97-AF65-F5344CB8AC3E}">
        <p14:creationId xmlns:p14="http://schemas.microsoft.com/office/powerpoint/2010/main" val="2976008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7837A9-6FC0-7F34-092B-113A1414E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B4512EE-AF70-270D-69B7-5A4964D895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500" y="2592646"/>
            <a:ext cx="11763376" cy="4234606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C467BA-DDB5-B7BA-3143-0A7597AF7C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821435"/>
              </p:ext>
            </p:extLst>
          </p:nvPr>
        </p:nvGraphicFramePr>
        <p:xfrm>
          <a:off x="8490742" y="725924"/>
          <a:ext cx="2924175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1575">
                  <a:extLst>
                    <a:ext uri="{9D8B030D-6E8A-4147-A177-3AD203B41FA5}">
                      <a16:colId xmlns:a16="http://schemas.microsoft.com/office/drawing/2014/main" val="219245461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029682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4976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IPv4 Address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7564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AAAA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IPv6 Address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8089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Reverse Lookup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8268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Mail Server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649841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43FA285-106F-F59A-8F63-4A39CEB7C2B9}"/>
              </a:ext>
            </a:extLst>
          </p:cNvPr>
          <p:cNvSpPr txBox="1"/>
          <p:nvPr/>
        </p:nvSpPr>
        <p:spPr>
          <a:xfrm>
            <a:off x="2457450" y="38100"/>
            <a:ext cx="32956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3: Investigate DNS Traffic</a:t>
            </a:r>
          </a:p>
          <a:p>
            <a:pPr>
              <a:buNone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filter bar type:</a:t>
            </a:r>
          </a:p>
          <a:p>
            <a:pPr rtl="0">
              <a:buNone/>
            </a:pPr>
            <a:r>
              <a:rPr lang="en-I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</a:t>
            </a:r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Look for: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 Queries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 Responses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 Names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Types</a:t>
            </a:r>
          </a:p>
          <a:p>
            <a:pPr>
              <a:buNone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a DNS packet.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D37242-4295-B63F-BC02-0A9F9613D676}"/>
              </a:ext>
            </a:extLst>
          </p:cNvPr>
          <p:cNvSpPr txBox="1"/>
          <p:nvPr/>
        </p:nvSpPr>
        <p:spPr>
          <a:xfrm>
            <a:off x="5619750" y="284321"/>
            <a:ext cx="329565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Expand: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 Name System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Queries</a:t>
            </a:r>
          </a:p>
          <a:p>
            <a:pPr>
              <a:buNone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google.com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example.com</a:t>
            </a:r>
          </a:p>
          <a:p>
            <a:pPr>
              <a:buNone/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Query Types</a:t>
            </a:r>
          </a:p>
          <a:p>
            <a:pPr>
              <a:buNone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Common values:</a:t>
            </a:r>
          </a:p>
        </p:txBody>
      </p:sp>
    </p:spTree>
    <p:extLst>
      <p:ext uri="{BB962C8B-B14F-4D97-AF65-F5344CB8AC3E}">
        <p14:creationId xmlns:p14="http://schemas.microsoft.com/office/powerpoint/2010/main" val="24538886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B835A7-194F-3362-DDDE-AC134F3D0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FA6F1C-0B32-5173-8FB8-A96228E136B6}"/>
              </a:ext>
            </a:extLst>
          </p:cNvPr>
          <p:cNvSpPr txBox="1"/>
          <p:nvPr/>
        </p:nvSpPr>
        <p:spPr>
          <a:xfrm>
            <a:off x="933450" y="263009"/>
            <a:ext cx="3162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4: Investigate TCP Traffic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1C03E2-C7E1-1D16-036F-434D5DEC4216}"/>
              </a:ext>
            </a:extLst>
          </p:cNvPr>
          <p:cNvSpPr txBox="1"/>
          <p:nvPr/>
        </p:nvSpPr>
        <p:spPr>
          <a:xfrm>
            <a:off x="2781300" y="735569"/>
            <a:ext cx="33147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SYN Packets</a:t>
            </a:r>
          </a:p>
          <a:p>
            <a:pPr>
              <a:buNone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Filter:</a:t>
            </a:r>
          </a:p>
          <a:p>
            <a:pPr rtl="0">
              <a:buNone/>
            </a:pP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tcp.port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== 80 &amp;&amp; 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ip.addr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== 91.189.91.96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BD2969-8FF5-E45B-6704-CD60DBF243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75747" y="1"/>
            <a:ext cx="6086586" cy="47529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A6C8A6-5E85-1B89-C109-50A88CE9B3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105026"/>
            <a:ext cx="6045626" cy="47529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5F98FCC-B939-7961-0A17-E1CD4E46F319}"/>
              </a:ext>
            </a:extLst>
          </p:cNvPr>
          <p:cNvSpPr txBox="1"/>
          <p:nvPr/>
        </p:nvSpPr>
        <p:spPr>
          <a:xfrm>
            <a:off x="5972175" y="5208626"/>
            <a:ext cx="16478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SYN Packets</a:t>
            </a:r>
          </a:p>
          <a:p>
            <a:pPr>
              <a:buNone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Filter:</a:t>
            </a:r>
          </a:p>
          <a:p>
            <a:pPr rtl="0">
              <a:buNone/>
            </a:pP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tcp.flags.syn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==1</a:t>
            </a:r>
          </a:p>
        </p:txBody>
      </p:sp>
    </p:spTree>
    <p:extLst>
      <p:ext uri="{BB962C8B-B14F-4D97-AF65-F5344CB8AC3E}">
        <p14:creationId xmlns:p14="http://schemas.microsoft.com/office/powerpoint/2010/main" val="30723362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638802-3CDB-759C-6A9B-EFDE2D1D4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2CC280-44E9-8AFD-15B2-EF963BC30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42432" y="1"/>
            <a:ext cx="5849568" cy="48660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EB9E6B-23A1-0EDB-FF6C-2F1CE2015AEE}"/>
              </a:ext>
            </a:extLst>
          </p:cNvPr>
          <p:cNvSpPr txBox="1"/>
          <p:nvPr/>
        </p:nvSpPr>
        <p:spPr>
          <a:xfrm>
            <a:off x="3918348" y="509317"/>
            <a:ext cx="28336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SYN/ACK Responses</a:t>
            </a:r>
          </a:p>
          <a:p>
            <a:pPr>
              <a:buNone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Filter:</a:t>
            </a:r>
          </a:p>
          <a:p>
            <a:pPr rtl="0">
              <a:buNone/>
            </a:pP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tcp.flags.syn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==1 &amp;&amp; 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tcp.flags.ack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==1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65649F-FF1C-97E3-4FEE-D51C5284E8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905000"/>
            <a:ext cx="6342432" cy="4953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9E5DD13-72CA-A70B-C0FE-4594FE68608B}"/>
              </a:ext>
            </a:extLst>
          </p:cNvPr>
          <p:cNvSpPr txBox="1"/>
          <p:nvPr/>
        </p:nvSpPr>
        <p:spPr>
          <a:xfrm>
            <a:off x="6342432" y="5200707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RST Packets</a:t>
            </a:r>
          </a:p>
          <a:p>
            <a:pPr>
              <a:buNone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Filter:</a:t>
            </a:r>
          </a:p>
          <a:p>
            <a:pPr rtl="0">
              <a:buNone/>
            </a:pP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tcp.flags.reset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==1</a:t>
            </a:r>
          </a:p>
        </p:txBody>
      </p:sp>
    </p:spTree>
    <p:extLst>
      <p:ext uri="{BB962C8B-B14F-4D97-AF65-F5344CB8AC3E}">
        <p14:creationId xmlns:p14="http://schemas.microsoft.com/office/powerpoint/2010/main" val="3717013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2BC655-2494-0F4A-9B91-92D4B3727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FD0B5A8-21ED-D80B-DF6E-F0E7591477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899248"/>
              </p:ext>
            </p:extLst>
          </p:nvPr>
        </p:nvGraphicFramePr>
        <p:xfrm>
          <a:off x="4086225" y="3630156"/>
          <a:ext cx="4210050" cy="1341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3187">
                  <a:extLst>
                    <a:ext uri="{9D8B030D-6E8A-4147-A177-3AD203B41FA5}">
                      <a16:colId xmlns:a16="http://schemas.microsoft.com/office/drawing/2014/main" val="1844601005"/>
                    </a:ext>
                  </a:extLst>
                </a:gridCol>
                <a:gridCol w="1749638">
                  <a:extLst>
                    <a:ext uri="{9D8B030D-6E8A-4147-A177-3AD203B41FA5}">
                      <a16:colId xmlns:a16="http://schemas.microsoft.com/office/drawing/2014/main" val="191937779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10971504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3244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8030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3172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704829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9E16147-91D7-4296-27D7-4FFA6D3FF76F}"/>
              </a:ext>
            </a:extLst>
          </p:cNvPr>
          <p:cNvSpPr txBox="1"/>
          <p:nvPr/>
        </p:nvSpPr>
        <p:spPr>
          <a:xfrm>
            <a:off x="4086225" y="336947"/>
            <a:ext cx="401955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5: Check for Repeated Connection Attempts</a:t>
            </a:r>
          </a:p>
          <a:p>
            <a:pPr>
              <a:buNone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Use:</a:t>
            </a:r>
          </a:p>
          <a:p>
            <a:pPr rtl="0">
              <a:buNone/>
            </a:pPr>
            <a:r>
              <a:rPr lang="en-I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tcp.flags.syn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==1</a:t>
            </a:r>
          </a:p>
          <a:p>
            <a:pPr>
              <a:buNone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Look for: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 source IP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 destination IP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SYN packets</a:t>
            </a:r>
          </a:p>
          <a:p>
            <a:pPr>
              <a:buNone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>
              <a:buNone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Repeated attempts may simply be: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 browsing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 discovery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Nmap scanning</a:t>
            </a:r>
          </a:p>
        </p:txBody>
      </p:sp>
    </p:spTree>
    <p:extLst>
      <p:ext uri="{BB962C8B-B14F-4D97-AF65-F5344CB8AC3E}">
        <p14:creationId xmlns:p14="http://schemas.microsoft.com/office/powerpoint/2010/main" val="32854154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6A4E08-FE77-C51C-2ED0-6ABCBECCC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83EFA1-1B4F-CD9A-5DF1-3547C16D84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775" y="3189386"/>
            <a:ext cx="8172450" cy="3556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3A10AF-F1F6-6F32-C5A4-720C3799B396}"/>
              </a:ext>
            </a:extLst>
          </p:cNvPr>
          <p:cNvSpPr txBox="1"/>
          <p:nvPr/>
        </p:nvSpPr>
        <p:spPr>
          <a:xfrm>
            <a:off x="2438400" y="142398"/>
            <a:ext cx="668655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6: Look for Suspicious Indicators</a:t>
            </a:r>
          </a:p>
          <a:p>
            <a:pPr lvl="0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Repeated connection attempts: 192.168.188.128 shows multiple connections on different high-numbered ports.</a:t>
            </a:r>
          </a:p>
          <a:p>
            <a:pPr lvl="0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Unusual ports: Ports such as 35234, 38668, and 54083 should be verified.</a:t>
            </a:r>
          </a:p>
          <a:p>
            <a:pPr lvl="0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Unexpected protocols: UDP traffic on port 123 (NTP) should be checked to confirm it is legitimate.</a:t>
            </a:r>
          </a:p>
          <a:p>
            <a:pPr lvl="0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Abnormal DNS requests: 192.168.188.2:53 generates DNS traffic; verify the requested domains if unusual.</a:t>
            </a:r>
          </a:p>
          <a:p>
            <a:pPr lvl="0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 amounts of traffic: 27.116.54.177:443 has about 67 MB of traffic and should be reviewed.</a:t>
            </a:r>
          </a:p>
          <a:p>
            <a:pPr lvl="0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Unexpected systems: External IPs such as 27.116.54.176 and 142.251.106.149 should be verified against expected services.</a:t>
            </a:r>
          </a:p>
        </p:txBody>
      </p:sp>
    </p:spTree>
    <p:extLst>
      <p:ext uri="{BB962C8B-B14F-4D97-AF65-F5344CB8AC3E}">
        <p14:creationId xmlns:p14="http://schemas.microsoft.com/office/powerpoint/2010/main" val="35373833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63BC2E-7794-B8F5-326F-E646BD663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CD41E7-431C-8B1B-2B52-5F3D8FD0C8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109324"/>
              </p:ext>
            </p:extLst>
          </p:nvPr>
        </p:nvGraphicFramePr>
        <p:xfrm>
          <a:off x="247651" y="1606550"/>
          <a:ext cx="11458573" cy="47784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7749">
                  <a:extLst>
                    <a:ext uri="{9D8B030D-6E8A-4147-A177-3AD203B41FA5}">
                      <a16:colId xmlns:a16="http://schemas.microsoft.com/office/drawing/2014/main" val="1944769806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4265635654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463110628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97204775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644586813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3373833809"/>
                    </a:ext>
                  </a:extLst>
                </a:gridCol>
                <a:gridCol w="2390774">
                  <a:extLst>
                    <a:ext uri="{9D8B030D-6E8A-4147-A177-3AD203B41FA5}">
                      <a16:colId xmlns:a16="http://schemas.microsoft.com/office/drawing/2014/main" val="75911813"/>
                    </a:ext>
                  </a:extLst>
                </a:gridCol>
              </a:tblGrid>
              <a:tr h="298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Source IP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Destination IP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Port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Protocol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Observation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Security Significance</a:t>
                      </a:r>
                    </a:p>
                  </a:txBody>
                  <a:tcPr marL="42660" marR="42660" marT="21330" marB="21330" anchor="ctr"/>
                </a:tc>
                <a:extLst>
                  <a:ext uri="{0D108BD9-81ED-4DB2-BD59-A6C34878D82A}">
                    <a16:rowId xmlns:a16="http://schemas.microsoft.com/office/drawing/2014/main" val="1729471510"/>
                  </a:ext>
                </a:extLst>
              </a:tr>
              <a:tr h="554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18.5865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192.168.188.131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91.189.91.96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TCP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SYN packet sent to web server.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Normal connection request to a website.</a:t>
                      </a:r>
                    </a:p>
                  </a:txBody>
                  <a:tcPr marL="42660" marR="42660" marT="21330" marB="21330" anchor="ctr"/>
                </a:tc>
                <a:extLst>
                  <a:ext uri="{0D108BD9-81ED-4DB2-BD59-A6C34878D82A}">
                    <a16:rowId xmlns:a16="http://schemas.microsoft.com/office/drawing/2014/main" val="503397113"/>
                  </a:ext>
                </a:extLst>
              </a:tr>
              <a:tr h="554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18.7888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91.189.91.96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192.168.188.131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TCP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SYN/ACK response received.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web server accepted the connection.</a:t>
                      </a:r>
                    </a:p>
                  </a:txBody>
                  <a:tcPr marL="42660" marR="42660" marT="21330" marB="21330" anchor="ctr"/>
                </a:tc>
                <a:extLst>
                  <a:ext uri="{0D108BD9-81ED-4DB2-BD59-A6C34878D82A}">
                    <a16:rowId xmlns:a16="http://schemas.microsoft.com/office/drawing/2014/main" val="1226068673"/>
                  </a:ext>
                </a:extLst>
              </a:tr>
              <a:tr h="298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18.7916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192.168.188.131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91.189.91.96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 GET request sent.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 accessed a webpage.</a:t>
                      </a:r>
                    </a:p>
                  </a:txBody>
                  <a:tcPr marL="42660" marR="42660" marT="21330" marB="21330" anchor="ctr"/>
                </a:tc>
                <a:extLst>
                  <a:ext uri="{0D108BD9-81ED-4DB2-BD59-A6C34878D82A}">
                    <a16:rowId xmlns:a16="http://schemas.microsoft.com/office/drawing/2014/main" val="668088900"/>
                  </a:ext>
                </a:extLst>
              </a:tr>
              <a:tr h="426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18.9941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91.189.91.96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192.168.188.131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 204 No Content received.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Normal server response.</a:t>
                      </a:r>
                    </a:p>
                  </a:txBody>
                  <a:tcPr marL="42660" marR="42660" marT="21330" marB="21330" anchor="ctr"/>
                </a:tc>
                <a:extLst>
                  <a:ext uri="{0D108BD9-81ED-4DB2-BD59-A6C34878D82A}">
                    <a16:rowId xmlns:a16="http://schemas.microsoft.com/office/drawing/2014/main" val="1466866248"/>
                  </a:ext>
                </a:extLst>
              </a:tr>
              <a:tr h="426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22.4438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192.168.188.131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192.168.188.2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DNS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DNS query for api.snapcraft.io.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Normal domain name lookup.</a:t>
                      </a:r>
                    </a:p>
                  </a:txBody>
                  <a:tcPr marL="42660" marR="42660" marT="21330" marB="21330" anchor="ctr"/>
                </a:tc>
                <a:extLst>
                  <a:ext uri="{0D108BD9-81ED-4DB2-BD59-A6C34878D82A}">
                    <a16:rowId xmlns:a16="http://schemas.microsoft.com/office/drawing/2014/main" val="2631104102"/>
                  </a:ext>
                </a:extLst>
              </a:tr>
              <a:tr h="682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53.4788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192.168.188.131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192.168.188.2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DNS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DNS query for www.youtube.com.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Normal DNS request before accessing YouTube.</a:t>
                      </a:r>
                    </a:p>
                  </a:txBody>
                  <a:tcPr marL="42660" marR="42660" marT="21330" marB="21330" anchor="ctr"/>
                </a:tc>
                <a:extLst>
                  <a:ext uri="{0D108BD9-81ED-4DB2-BD59-A6C34878D82A}">
                    <a16:rowId xmlns:a16="http://schemas.microsoft.com/office/drawing/2014/main" val="356108909"/>
                  </a:ext>
                </a:extLst>
              </a:tr>
              <a:tr h="554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53.5029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192.168.188.2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192.168.188.131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DNS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DNS response returned multiple IP addresses.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Successful DNS resolution.</a:t>
                      </a:r>
                    </a:p>
                  </a:txBody>
                  <a:tcPr marL="42660" marR="42660" marT="21330" marB="21330" anchor="ctr"/>
                </a:tc>
                <a:extLst>
                  <a:ext uri="{0D108BD9-81ED-4DB2-BD59-A6C34878D82A}">
                    <a16:rowId xmlns:a16="http://schemas.microsoft.com/office/drawing/2014/main" val="3150440205"/>
                  </a:ext>
                </a:extLst>
              </a:tr>
              <a:tr h="554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115.3643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192.168.188.131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34.104.35.123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443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TCP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TCP RST packet sent.</a:t>
                      </a:r>
                    </a:p>
                  </a:txBody>
                  <a:tcPr marL="42660" marR="42660" marT="21330" marB="21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Connection was intentionally closed.</a:t>
                      </a:r>
                    </a:p>
                  </a:txBody>
                  <a:tcPr marL="42660" marR="42660" marT="21330" marB="21330" anchor="ctr"/>
                </a:tc>
                <a:extLst>
                  <a:ext uri="{0D108BD9-81ED-4DB2-BD59-A6C34878D82A}">
                    <a16:rowId xmlns:a16="http://schemas.microsoft.com/office/drawing/2014/main" val="405367682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5717434-E5A2-E1D6-D276-5B35F41706F4}"/>
              </a:ext>
            </a:extLst>
          </p:cNvPr>
          <p:cNvSpPr txBox="1"/>
          <p:nvPr/>
        </p:nvSpPr>
        <p:spPr>
          <a:xfrm>
            <a:off x="247651" y="79637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Investigation Table</a:t>
            </a:r>
          </a:p>
        </p:txBody>
      </p:sp>
    </p:spTree>
    <p:extLst>
      <p:ext uri="{BB962C8B-B14F-4D97-AF65-F5344CB8AC3E}">
        <p14:creationId xmlns:p14="http://schemas.microsoft.com/office/powerpoint/2010/main" val="32271197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AC4050-BE7D-9B02-8647-227A7A808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D86096F-8C07-75DC-D433-116C9F3B9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2448"/>
              </p:ext>
            </p:extLst>
          </p:nvPr>
        </p:nvGraphicFramePr>
        <p:xfrm>
          <a:off x="61913" y="2831701"/>
          <a:ext cx="12068174" cy="39567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492">
                  <a:extLst>
                    <a:ext uri="{9D8B030D-6E8A-4147-A177-3AD203B41FA5}">
                      <a16:colId xmlns:a16="http://schemas.microsoft.com/office/drawing/2014/main" val="3004526358"/>
                    </a:ext>
                  </a:extLst>
                </a:gridCol>
                <a:gridCol w="1395269">
                  <a:extLst>
                    <a:ext uri="{9D8B030D-6E8A-4147-A177-3AD203B41FA5}">
                      <a16:colId xmlns:a16="http://schemas.microsoft.com/office/drawing/2014/main" val="1694113996"/>
                    </a:ext>
                  </a:extLst>
                </a:gridCol>
                <a:gridCol w="3062344">
                  <a:extLst>
                    <a:ext uri="{9D8B030D-6E8A-4147-A177-3AD203B41FA5}">
                      <a16:colId xmlns:a16="http://schemas.microsoft.com/office/drawing/2014/main" val="2730563903"/>
                    </a:ext>
                  </a:extLst>
                </a:gridCol>
                <a:gridCol w="742936">
                  <a:extLst>
                    <a:ext uri="{9D8B030D-6E8A-4147-A177-3AD203B41FA5}">
                      <a16:colId xmlns:a16="http://schemas.microsoft.com/office/drawing/2014/main" val="1884966501"/>
                    </a:ext>
                  </a:extLst>
                </a:gridCol>
                <a:gridCol w="3216367">
                  <a:extLst>
                    <a:ext uri="{9D8B030D-6E8A-4147-A177-3AD203B41FA5}">
                      <a16:colId xmlns:a16="http://schemas.microsoft.com/office/drawing/2014/main" val="3481762834"/>
                    </a:ext>
                  </a:extLst>
                </a:gridCol>
                <a:gridCol w="3125766">
                  <a:extLst>
                    <a:ext uri="{9D8B030D-6E8A-4147-A177-3AD203B41FA5}">
                      <a16:colId xmlns:a16="http://schemas.microsoft.com/office/drawing/2014/main" val="3975613419"/>
                    </a:ext>
                  </a:extLst>
                </a:gridCol>
              </a:tblGrid>
              <a:tr h="256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 No.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Finding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Evidence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Risk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Potential Impact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Recommendation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1953357807"/>
                  </a:ext>
                </a:extLst>
              </a:tr>
              <a:tr h="915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 service exposed on Port 80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Nmap detected Apache httpd 2.4.68 on 192.168.188.128. Wireshark captured HTTP traffic.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Unencrypted web traffic could expose information if sensitive data is transmitted.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HTTPS, keep Apache updated, and restrict unnecessary access.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3395503536"/>
                  </a:ext>
                </a:extLst>
              </a:tr>
              <a:tr h="695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/server-status directory exposed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nmap --script vuln found the /server-status page.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page may reveal server information useful for attackers.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Disable or restrict /server-status to administrators only.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2526460632"/>
                  </a:ext>
                </a:extLst>
              </a:tr>
              <a:tr h="695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DNS service accessible on Port 53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Nmap detected dnsmasq 2.45 on 192.168.188.2.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 misconfigured, DNS could be abused for information gathering or misuse.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 DNS access to trusted devices and keep dnsmasq updated.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2860967248"/>
                  </a:ext>
                </a:extLst>
              </a:tr>
              <a:tr h="5857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 used instead of encrypted HTTPS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Wireshark captured HTTP GET requests and responses.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sent over HTTP can be viewed by others on the network.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Redirect HTTP traffic to HTTPS and use TLS certificates.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3575121217"/>
                  </a:ext>
                </a:extLst>
              </a:tr>
              <a:tr h="805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Multiple connection attempts observed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Wireshark showed repeated SYN packets during Nmap scanning.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Repeated connection attempts could indicate scanning activity and should be monitored.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Monitor connection attempts and configure firewall rules where appropriate.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151954099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E82B303-F52F-20C1-6D36-283AA759CE8E}"/>
              </a:ext>
            </a:extLst>
          </p:cNvPr>
          <p:cNvSpPr txBox="1"/>
          <p:nvPr/>
        </p:nvSpPr>
        <p:spPr>
          <a:xfrm>
            <a:off x="2676526" y="12753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12 </a:t>
            </a:r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Vulnerability Assessment Table (Actual Lab Findings)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34E174-6768-148A-6523-4C81F3D8A9C5}"/>
              </a:ext>
            </a:extLst>
          </p:cNvPr>
          <p:cNvSpPr txBox="1"/>
          <p:nvPr/>
        </p:nvSpPr>
        <p:spPr>
          <a:xfrm>
            <a:off x="2200275" y="1831866"/>
            <a:ext cx="2714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1: Collect Previous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39EF54-6AD7-0A69-3D1E-BD9F0035BC85}"/>
              </a:ext>
            </a:extLst>
          </p:cNvPr>
          <p:cNvSpPr txBox="1"/>
          <p:nvPr/>
        </p:nvSpPr>
        <p:spPr>
          <a:xfrm>
            <a:off x="2200275" y="2229632"/>
            <a:ext cx="33051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2: Identify Security Findings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425F281-581F-B135-45EC-1F1EC9050D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378911"/>
              </p:ext>
            </p:extLst>
          </p:nvPr>
        </p:nvGraphicFramePr>
        <p:xfrm>
          <a:off x="5429250" y="1231502"/>
          <a:ext cx="4095751" cy="1557625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334775">
                  <a:extLst>
                    <a:ext uri="{9D8B030D-6E8A-4147-A177-3AD203B41FA5}">
                      <a16:colId xmlns:a16="http://schemas.microsoft.com/office/drawing/2014/main" val="101871201"/>
                    </a:ext>
                  </a:extLst>
                </a:gridCol>
                <a:gridCol w="2760976">
                  <a:extLst>
                    <a:ext uri="{9D8B030D-6E8A-4147-A177-3AD203B41FA5}">
                      <a16:colId xmlns:a16="http://schemas.microsoft.com/office/drawing/2014/main" val="260767914"/>
                    </a:ext>
                  </a:extLst>
                </a:gridCol>
              </a:tblGrid>
              <a:tr h="31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Risk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Meaning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990396"/>
                  </a:ext>
                </a:extLst>
              </a:tr>
              <a:tr h="31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Critical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Immediate serious danger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165293"/>
                  </a:ext>
                </a:extLst>
              </a:tr>
              <a:tr h="31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High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Major security risk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27501"/>
                  </a:ext>
                </a:extLst>
              </a:tr>
              <a:tr h="31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Medium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Needs improvement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264505"/>
                  </a:ext>
                </a:extLst>
              </a:tr>
              <a:tr h="31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Low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Minor issue or good practice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66755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84C7532-4B85-8F43-C78F-6B645F08EC6A}"/>
              </a:ext>
            </a:extLst>
          </p:cNvPr>
          <p:cNvSpPr txBox="1"/>
          <p:nvPr/>
        </p:nvSpPr>
        <p:spPr>
          <a:xfrm>
            <a:off x="5334000" y="665708"/>
            <a:ext cx="28098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3: Assign Risk</a:t>
            </a:r>
          </a:p>
          <a:p>
            <a:pPr>
              <a:buNone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simple reasoning.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B36E58-6272-D386-60A6-42104BD596E0}"/>
              </a:ext>
            </a:extLst>
          </p:cNvPr>
          <p:cNvSpPr txBox="1"/>
          <p:nvPr/>
        </p:nvSpPr>
        <p:spPr>
          <a:xfrm>
            <a:off x="2200275" y="572326"/>
            <a:ext cx="280987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 Use the information gathered from Tasks 7–11 to perform a basic vulnerability/security assessment of your lab.</a:t>
            </a:r>
          </a:p>
        </p:txBody>
      </p:sp>
    </p:spTree>
    <p:extLst>
      <p:ext uri="{BB962C8B-B14F-4D97-AF65-F5344CB8AC3E}">
        <p14:creationId xmlns:p14="http://schemas.microsoft.com/office/powerpoint/2010/main" val="24253993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A6D8DF-10AE-35C3-3B05-C6E66CA2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7957A9-6238-1A94-7E61-44F594BC32FC}"/>
              </a:ext>
            </a:extLst>
          </p:cNvPr>
          <p:cNvSpPr txBox="1"/>
          <p:nvPr/>
        </p:nvSpPr>
        <p:spPr>
          <a:xfrm>
            <a:off x="3559376" y="323850"/>
            <a:ext cx="5613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13 – Security Hardening &amp; Before/After Testing</a:t>
            </a:r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77BF57-AA2D-BB9A-AC8E-34C9D08F870B}"/>
              </a:ext>
            </a:extLst>
          </p:cNvPr>
          <p:cNvSpPr txBox="1"/>
          <p:nvPr/>
        </p:nvSpPr>
        <p:spPr>
          <a:xfrm>
            <a:off x="2695575" y="1342936"/>
            <a:ext cx="27241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Used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Nmap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Apache Web Server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UFW Firewall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64F69D-D438-C0AF-2758-4FEC926A4893}"/>
              </a:ext>
            </a:extLst>
          </p:cNvPr>
          <p:cNvSpPr txBox="1"/>
          <p:nvPr/>
        </p:nvSpPr>
        <p:spPr>
          <a:xfrm>
            <a:off x="5791200" y="131635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 – Run the Before Scan</a:t>
            </a:r>
          </a:p>
          <a:p>
            <a:pPr>
              <a:buNone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Before making any changes, scan the target machine.</a:t>
            </a:r>
          </a:p>
          <a:p>
            <a:pPr>
              <a:buNone/>
            </a:pPr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Command</a:t>
            </a:r>
          </a:p>
          <a:p>
            <a:pPr rtl="0">
              <a:buNone/>
            </a:pPr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nmap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192.168.188.128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BAF39F-491F-5038-8157-6491EDA1E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219" y="2516681"/>
            <a:ext cx="5584488" cy="42862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A23963-F929-E774-69E2-0914135EFEF2}"/>
              </a:ext>
            </a:extLst>
          </p:cNvPr>
          <p:cNvSpPr txBox="1"/>
          <p:nvPr/>
        </p:nvSpPr>
        <p:spPr>
          <a:xfrm>
            <a:off x="1501607" y="806809"/>
            <a:ext cx="91887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 Fix security issues identified in your authorized lab and demonstrate the improvement.</a:t>
            </a:r>
          </a:p>
        </p:txBody>
      </p:sp>
    </p:spTree>
    <p:extLst>
      <p:ext uri="{BB962C8B-B14F-4D97-AF65-F5344CB8AC3E}">
        <p14:creationId xmlns:p14="http://schemas.microsoft.com/office/powerpoint/2010/main" val="32601807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C786D2-4921-4FE6-72CB-FF0AD8EDE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579FA6-4D9A-D9B9-5930-9031158EBE36}"/>
              </a:ext>
            </a:extLst>
          </p:cNvPr>
          <p:cNvSpPr txBox="1"/>
          <p:nvPr/>
        </p:nvSpPr>
        <p:spPr>
          <a:xfrm>
            <a:off x="2428875" y="105013"/>
            <a:ext cx="5153025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Improvement 1 – Restrict HTTP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Issue</a:t>
            </a:r>
          </a:p>
          <a:p>
            <a:pPr>
              <a:buNone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web server was accessible on Port 80.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Fix It?</a:t>
            </a:r>
          </a:p>
          <a:p>
            <a:pPr>
              <a:buNone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Anyone on the network could access the web service.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 Taken</a:t>
            </a:r>
          </a:p>
          <a:p>
            <a:pPr>
              <a:buNone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 only the local network to access Port 80.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Enable UFW</a:t>
            </a:r>
          </a:p>
          <a:p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ufw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 only the local subnet:</a:t>
            </a:r>
          </a:p>
          <a:p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ufw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allow from 192.168.188.0/24 to any port 80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Deny other access:</a:t>
            </a:r>
          </a:p>
          <a:p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ufw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deny 80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 firewall:</a:t>
            </a:r>
          </a:p>
          <a:p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ufw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status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3BB749-9577-0FF8-A860-C6C6420331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875" y="3534013"/>
            <a:ext cx="5229955" cy="332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0467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485AEA-8384-4B94-3F8A-E7036AF01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347F28-C955-FDAB-70FA-D8370BF2CAFA}"/>
              </a:ext>
            </a:extLst>
          </p:cNvPr>
          <p:cNvSpPr txBox="1"/>
          <p:nvPr/>
        </p:nvSpPr>
        <p:spPr>
          <a:xfrm>
            <a:off x="2400300" y="3106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Improvement 2 – Disable Apache Server Status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42F4FE-43BE-02B9-7FB8-C4ECB82E0959}"/>
              </a:ext>
            </a:extLst>
          </p:cNvPr>
          <p:cNvSpPr txBox="1"/>
          <p:nvPr/>
        </p:nvSpPr>
        <p:spPr>
          <a:xfrm>
            <a:off x="2400300" y="603320"/>
            <a:ext cx="44196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Issue</a:t>
            </a:r>
          </a:p>
          <a:p>
            <a:pPr>
              <a:buNone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Nmap found: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Fix It?</a:t>
            </a:r>
          </a:p>
          <a:p>
            <a:pPr>
              <a:buNone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may reveal server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Apache Configuration</a:t>
            </a:r>
          </a:p>
          <a:p>
            <a:pPr rtl="0">
              <a:buNone/>
            </a:pP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nano /etc/apache2/mods-enabled/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status.conf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Find: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&lt;Location /server-status&gt;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 it to: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&lt;Location /server-status&gt;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Require local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&lt;/Location&gt;</a:t>
            </a:r>
          </a:p>
          <a:p>
            <a:pPr>
              <a:buNone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Ctrl + x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</a:t>
            </a:r>
          </a:p>
          <a:p>
            <a:pPr>
              <a:buNone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Restart Apache:</a:t>
            </a:r>
          </a:p>
          <a:p>
            <a:pPr rtl="0">
              <a:buNone/>
            </a:pP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systemctl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restart apache2</a:t>
            </a:r>
          </a:p>
          <a:p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Verify</a:t>
            </a:r>
          </a:p>
          <a:p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Run:</a:t>
            </a:r>
          </a:p>
          <a:p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nmap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--script vuln 192.168.188.128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C66035-C642-B749-98FA-8A48F8F821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088" y="4804397"/>
            <a:ext cx="4195986" cy="17429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DE352C-5890-591D-1052-6522DC51E9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300" y="5150463"/>
            <a:ext cx="4809729" cy="13969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7646EB-41D7-B713-6AAD-D24D763A5B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090" y="919057"/>
            <a:ext cx="4195986" cy="6954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496110C-E143-00D1-74C5-C1CBF8CEE8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088" y="1690676"/>
            <a:ext cx="4195987" cy="230313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8DB15EC-00EB-0F29-A805-7099CCC9D2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089" y="4070012"/>
            <a:ext cx="4195986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700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E83944-F078-FD22-10D3-E9399C6E6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4B9193-9B0C-94F9-9320-4271BA9BE4A3}"/>
              </a:ext>
            </a:extLst>
          </p:cNvPr>
          <p:cNvSpPr txBox="1"/>
          <p:nvPr/>
        </p:nvSpPr>
        <p:spPr>
          <a:xfrm>
            <a:off x="2287524" y="130165"/>
            <a:ext cx="609600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Improvement 3 – Update Installed Packages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Issue</a:t>
            </a:r>
          </a:p>
          <a:p>
            <a:pPr>
              <a:buNone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scan detected:</a:t>
            </a:r>
          </a:p>
          <a:p>
            <a:pPr rtl="0">
              <a:buNone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Apache httpd 2.4.68</a:t>
            </a:r>
          </a:p>
          <a:p>
            <a:pPr>
              <a:buNone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 when software is current, regular updates are an important hardening practice.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 Packages</a:t>
            </a:r>
          </a:p>
          <a:p>
            <a:pPr rtl="0">
              <a:buNone/>
            </a:pP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apt update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Upgrade:</a:t>
            </a:r>
          </a:p>
          <a:p>
            <a:pPr rtl="0">
              <a:buNone/>
            </a:pP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apt upgrade -y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 Apache version:</a:t>
            </a:r>
          </a:p>
          <a:p>
            <a:pPr rtl="0">
              <a:buNone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apache2 -v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73179A-F4E0-3F56-7D62-9B25D57A2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524" y="4435379"/>
            <a:ext cx="3086531" cy="8287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A3890E-BA60-E037-9C5E-E2D17776D7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524" y="2923004"/>
            <a:ext cx="4691549" cy="12450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CBCB582-AA19-EF79-39D8-367CE79EAD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6149" y="2209949"/>
            <a:ext cx="4716076" cy="305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1881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34E4BE-299D-62E4-1E2A-D5EE3BEDA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5C8FD9F-F680-7E30-F592-A2726A4AA892}"/>
              </a:ext>
            </a:extLst>
          </p:cNvPr>
          <p:cNvSpPr txBox="1"/>
          <p:nvPr/>
        </p:nvSpPr>
        <p:spPr>
          <a:xfrm>
            <a:off x="2343149" y="181392"/>
            <a:ext cx="789622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b="1" dirty="0">
                <a:solidFill>
                  <a:schemeClr val="bg1"/>
                </a:solidFill>
              </a:rPr>
              <a:t>Five Professional Recommendations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Use HTTPS:</a:t>
            </a:r>
            <a:r>
              <a:rPr lang="en-IN" dirty="0">
                <a:solidFill>
                  <a:schemeClr val="bg1"/>
                </a:solidFill>
              </a:rPr>
              <a:t> Enable HTTPS instead of HTTP to protect data transmitted between users and the server.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Configure firewall rules:</a:t>
            </a:r>
            <a:r>
              <a:rPr lang="en-IN" dirty="0">
                <a:solidFill>
                  <a:schemeClr val="bg1"/>
                </a:solidFill>
              </a:rPr>
              <a:t> Block unnecessary services and ports through proper firewall settings to reduce security risks.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Keep software updated:</a:t>
            </a:r>
            <a:r>
              <a:rPr lang="en-IN" dirty="0">
                <a:solidFill>
                  <a:schemeClr val="bg1"/>
                </a:solidFill>
              </a:rPr>
              <a:t> Regularly update the operating system, applications, and server software to fix known security vulnerabilities.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Restrict sensitive pages:</a:t>
            </a:r>
            <a:r>
              <a:rPr lang="en-IN" dirty="0">
                <a:solidFill>
                  <a:schemeClr val="bg1"/>
                </a:solidFill>
              </a:rPr>
              <a:t> Disable or limit access to sensitive pages, such as </a:t>
            </a:r>
            <a:r>
              <a:rPr lang="en-IN" dirty="0">
                <a:solidFill>
                  <a:schemeClr val="bg1"/>
                </a:solidFill>
                <a:latin typeface="+mn-lt"/>
              </a:rPr>
              <a:t>/server-status</a:t>
            </a:r>
            <a:r>
              <a:rPr lang="en-IN" dirty="0">
                <a:solidFill>
                  <a:schemeClr val="bg1"/>
                </a:solidFill>
              </a:rPr>
              <a:t>, so that important server information is not exposed.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Monitor network activity:</a:t>
            </a:r>
            <a:r>
              <a:rPr lang="en-IN" dirty="0">
                <a:solidFill>
                  <a:schemeClr val="bg1"/>
                </a:solidFill>
              </a:rPr>
              <a:t> Regularly monitor network traffic using tools such as Wireshark or SIEM solutions to detect unusual or suspicious activity.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73956A-58EB-3095-1AB7-69C80031A445}"/>
              </a:ext>
            </a:extLst>
          </p:cNvPr>
          <p:cNvSpPr txBox="1"/>
          <p:nvPr/>
        </p:nvSpPr>
        <p:spPr>
          <a:xfrm>
            <a:off x="2343149" y="3429000"/>
            <a:ext cx="789622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Summary</a:t>
            </a:r>
          </a:p>
          <a:p>
            <a:pPr rtl="0">
              <a:buNone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During this project, I conducted a complete network security assessment. I started by using Nmap to discover devices and identify open services on the network. I then captured and </a:t>
            </a:r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analyzed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network traffic to understand the communication and identify potential security issues.</a:t>
            </a:r>
          </a:p>
          <a:p>
            <a:pPr rtl="0">
              <a:buNone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assessing the vulnerabilities, I applied appropriate security hardening measures to improve the overall security of the system. Finally, I performed before-and-after testing to verify that the security improvements were effective.</a:t>
            </a:r>
          </a:p>
          <a:p>
            <a:pPr rtl="0">
              <a:buNone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Overall, this project helped me understand the practical process of identifying, </a:t>
            </a:r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analyzing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reducing network security risks.</a:t>
            </a:r>
          </a:p>
        </p:txBody>
      </p:sp>
    </p:spTree>
    <p:extLst>
      <p:ext uri="{BB962C8B-B14F-4D97-AF65-F5344CB8AC3E}">
        <p14:creationId xmlns:p14="http://schemas.microsoft.com/office/powerpoint/2010/main" val="2833534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1165</TotalTime>
  <Words>4228</Words>
  <Application>Microsoft Office PowerPoint</Application>
  <PresentationFormat>Widescreen</PresentationFormat>
  <Paragraphs>942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kumbhar dilip</dc:creator>
  <cp:lastModifiedBy>kumbhar dilip</cp:lastModifiedBy>
  <cp:revision>19</cp:revision>
  <dcterms:created xsi:type="dcterms:W3CDTF">2026-09-19T14:50:42Z</dcterms:created>
  <dcterms:modified xsi:type="dcterms:W3CDTF">2026-09-22T17:22:43Z</dcterms:modified>
</cp:coreProperties>
</file>